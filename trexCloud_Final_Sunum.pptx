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103120"/>
            <a:ext cx="10637215" cy="274320"/>
          </a:xfrm>
          <a:prstGeom prst="rect">
            <a:avLst/>
          </a:prstGeom>
          <a:noFill/>
        </p:spPr>
        <p:txBody>
          <a:bodyPr wrap="square" anchor="t" lIns="0" rIns="0" tIns="0" bIns="0">
            <a:spAutoFit/>
          </a:bodyPr>
          <a:lstStyle/>
          <a:p>
            <a:pPr algn="l">
              <a:lnSpc>
                <a:spcPct val="112000"/>
              </a:lnSpc>
            </a:pPr>
            <a:r>
              <a:rPr sz="1300" b="1">
                <a:solidFill>
                  <a:srgbClr val="0F7A52"/>
                </a:solidFill>
                <a:latin typeface="Arial"/>
              </a:rPr>
              <a:t>TREXCLOUD · ULUDAĞ HACKATHON</a:t>
            </a:r>
          </a:p>
        </p:txBody>
      </p:sp>
      <p:sp>
        <p:nvSpPr>
          <p:cNvPr id="4" name="TextBox 3"/>
          <p:cNvSpPr txBox="1"/>
          <p:nvPr/>
        </p:nvSpPr>
        <p:spPr>
          <a:xfrm>
            <a:off x="777240" y="2514600"/>
            <a:ext cx="10637215" cy="822960"/>
          </a:xfrm>
          <a:prstGeom prst="rect">
            <a:avLst/>
          </a:prstGeom>
          <a:noFill/>
        </p:spPr>
        <p:txBody>
          <a:bodyPr wrap="square" anchor="t" lIns="0" rIns="0" tIns="0" bIns="0">
            <a:spAutoFit/>
          </a:bodyPr>
          <a:lstStyle/>
          <a:p>
            <a:pPr algn="l">
              <a:lnSpc>
                <a:spcPct val="112000"/>
              </a:lnSpc>
            </a:pPr>
            <a:r>
              <a:rPr sz="3800" b="1">
                <a:solidFill>
                  <a:srgbClr val="16201C"/>
                </a:solidFill>
                <a:latin typeface="Arial"/>
              </a:rPr>
              <a:t>Kestirimci OEE ve Kök Neden Analizi</a:t>
            </a:r>
          </a:p>
        </p:txBody>
      </p:sp>
      <p:sp>
        <p:nvSpPr>
          <p:cNvPr id="5" name="TextBox 4"/>
          <p:cNvSpPr txBox="1"/>
          <p:nvPr/>
        </p:nvSpPr>
        <p:spPr>
          <a:xfrm>
            <a:off x="777240" y="4023360"/>
            <a:ext cx="10637215" cy="365760"/>
          </a:xfrm>
          <a:prstGeom prst="rect">
            <a:avLst/>
          </a:prstGeom>
          <a:noFill/>
        </p:spPr>
        <p:txBody>
          <a:bodyPr wrap="square" anchor="t" lIns="0" rIns="0" tIns="0" bIns="0">
            <a:spAutoFit/>
          </a:bodyPr>
          <a:lstStyle/>
          <a:p>
            <a:pPr algn="l">
              <a:lnSpc>
                <a:spcPct val="112000"/>
              </a:lnSpc>
            </a:pPr>
            <a:r>
              <a:rPr sz="1600" b="0">
                <a:solidFill>
                  <a:srgbClr val="6B776F"/>
                </a:solidFill>
                <a:latin typeface="Arial"/>
              </a:rPr>
              <a:t>Bir CNC ve lazer tesisi için uçtan uca duruş tahmini, kök neden ve What-If sistemi</a:t>
            </a:r>
          </a:p>
        </p:txBody>
      </p:sp>
      <p:sp>
        <p:nvSpPr>
          <p:cNvPr id="6" name="Rectangle 5"/>
          <p:cNvSpPr/>
          <p:nvPr/>
        </p:nvSpPr>
        <p:spPr>
          <a:xfrm>
            <a:off x="777240" y="4754880"/>
            <a:ext cx="2011680" cy="2286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37760"/>
            <a:ext cx="10637215" cy="274320"/>
          </a:xfrm>
          <a:prstGeom prst="rect">
            <a:avLst/>
          </a:prstGeom>
          <a:noFill/>
        </p:spPr>
        <p:txBody>
          <a:bodyPr wrap="square" anchor="t" lIns="0" rIns="0" tIns="0" bIns="0">
            <a:spAutoFit/>
          </a:bodyPr>
          <a:lstStyle/>
          <a:p>
            <a:pPr algn="l">
              <a:lnSpc>
                <a:spcPct val="112000"/>
              </a:lnSpc>
            </a:pPr>
            <a:r>
              <a:rPr sz="1250" b="0">
                <a:solidFill>
                  <a:srgbClr val="6B776F"/>
                </a:solidFill>
                <a:latin typeface="Arial"/>
              </a:rPr>
              <a:t>Veri dönemi Ağustos 2025 - Mayıs 2026  ·  12 makine  ·  yaklaşık 7,4 milyon telemetri kaydı</a:t>
            </a:r>
          </a:p>
        </p:txBody>
      </p:sp>
      <p:sp>
        <p:nvSpPr>
          <p:cNvPr id="8" name="TextBox 7"/>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VERİ</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Önce veriyi dürüstçe envanterledik</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02</a:t>
            </a:r>
          </a:p>
        </p:txBody>
      </p:sp>
      <p:sp>
        <p:nvSpPr>
          <p:cNvPr id="8" name="TextBox 7"/>
          <p:cNvSpPr txBox="1"/>
          <p:nvPr/>
        </p:nvSpPr>
        <p:spPr>
          <a:xfrm>
            <a:off x="777240" y="2057400"/>
            <a:ext cx="10637215" cy="4069080"/>
          </a:xfrm>
          <a:prstGeom prst="rect">
            <a:avLst/>
          </a:prstGeom>
          <a:noFill/>
        </p:spPr>
        <p:txBody>
          <a:bodyPr wrap="square" lIns="0" tIns="0">
            <a:spAutoFit/>
          </a:bodyPr>
          <a:lstStyle/>
          <a:p>
            <a:pPr>
              <a:lnSpc>
                <a:spcPct val="110000"/>
              </a:lnSpc>
              <a:spcAft>
                <a:spcPts val="1000"/>
              </a:spcAft>
            </a:pPr>
            <a:r>
              <a:rPr sz="1350" b="1">
                <a:solidFill>
                  <a:srgbClr val="0F7A52"/>
                </a:solidFill>
                <a:latin typeface="Arial"/>
              </a:rPr>
              <a:t>•  </a:t>
            </a:r>
            <a:r>
              <a:rPr sz="1350">
                <a:solidFill>
                  <a:srgbClr val="16201C"/>
                </a:solidFill>
                <a:latin typeface="Arial"/>
              </a:rPr>
              <a:t>Tesiste 12 makine var (Fanuc, Mitsubishi). Yaklaşık 7,4 milyon telemetri kaydı ve 153 bin MES olayı işlendi. Tüm süreler milisaniye cinsindendir.</a:t>
            </a:r>
          </a:p>
          <a:p>
            <a:pPr>
              <a:lnSpc>
                <a:spcPct val="110000"/>
              </a:lnSpc>
              <a:spcAft>
                <a:spcPts val="1000"/>
              </a:spcAft>
            </a:pPr>
            <a:r>
              <a:rPr sz="1350" b="1">
                <a:solidFill>
                  <a:srgbClr val="0F7A52"/>
                </a:solidFill>
                <a:latin typeface="Arial"/>
              </a:rPr>
              <a:t>•  </a:t>
            </a:r>
            <a:r>
              <a:rPr sz="1350">
                <a:solidFill>
                  <a:srgbClr val="16201C"/>
                </a:solidFill>
                <a:latin typeface="Arial"/>
              </a:rPr>
              <a:t>OEE üç bileşenin çarpımıdır: Kullanılabilirlik (A) çarpı Performans (P) çarpı Kalite (Q).</a:t>
            </a:r>
          </a:p>
          <a:p>
            <a:pPr>
              <a:lnSpc>
                <a:spcPct val="110000"/>
              </a:lnSpc>
              <a:spcAft>
                <a:spcPts val="1000"/>
              </a:spcAft>
            </a:pPr>
            <a:r>
              <a:rPr sz="1350" b="1">
                <a:solidFill>
                  <a:srgbClr val="0F7A52"/>
                </a:solidFill>
                <a:latin typeface="Arial"/>
              </a:rPr>
              <a:t>•  </a:t>
            </a:r>
            <a:r>
              <a:rPr sz="1350">
                <a:solidFill>
                  <a:srgbClr val="16201C"/>
                </a:solidFill>
                <a:latin typeface="Arial"/>
              </a:rPr>
              <a:t>Veride hurda kaydı sıfırdır, bu yüzden Kalite her zaman 1 çıkar. Üretim sayımı sıfır olan günlerde Performans 0 olur.</a:t>
            </a:r>
          </a:p>
          <a:p>
            <a:pPr>
              <a:lnSpc>
                <a:spcPct val="110000"/>
              </a:lnSpc>
              <a:spcAft>
                <a:spcPts val="1000"/>
              </a:spcAft>
            </a:pPr>
            <a:r>
              <a:rPr sz="1350" b="1">
                <a:solidFill>
                  <a:srgbClr val="0F7A52"/>
                </a:solidFill>
                <a:latin typeface="Arial"/>
              </a:rPr>
              <a:t>•  </a:t>
            </a:r>
            <a:r>
              <a:rPr sz="1350">
                <a:solidFill>
                  <a:srgbClr val="16201C"/>
                </a:solidFill>
                <a:latin typeface="Arial"/>
              </a:rPr>
              <a:t>Dokümanın işaret ettiği kanıt sinyalleri (servo sıcaklığı, yük) pratikte boştur. Modeli gerçekten akan sinyallerin üzerine kurduk: cycle_time, run_state, run_time, axis_position.</a:t>
            </a:r>
          </a:p>
          <a:p>
            <a:pPr>
              <a:lnSpc>
                <a:spcPct val="110000"/>
              </a:lnSpc>
              <a:spcAft>
                <a:spcPts val="1000"/>
              </a:spcAft>
            </a:pPr>
            <a:r>
              <a:rPr sz="1350" b="1">
                <a:solidFill>
                  <a:srgbClr val="0F7A52"/>
                </a:solidFill>
                <a:latin typeface="Arial"/>
              </a:rPr>
              <a:t>•  </a:t>
            </a:r>
            <a:r>
              <a:rPr sz="1350">
                <a:solidFill>
                  <a:srgbClr val="16201C"/>
                </a:solidFill>
                <a:latin typeface="Arial"/>
              </a:rPr>
              <a:t>En büyük duruş kaynağı bir makine arızası değil, System Offline yani bağlantı kesintisidir. Bunu ayrı tuttuk; çözümü bakım değil IT ekibindedir ve makine OEE'sine yazılmaz.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YÖNTEM</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Sinyalden öneriye uzanan tek hat</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03</a:t>
            </a:r>
          </a:p>
        </p:txBody>
      </p:sp>
      <p:sp>
        <p:nvSpPr>
          <p:cNvPr id="8" name="TextBox 7"/>
          <p:cNvSpPr txBox="1"/>
          <p:nvPr/>
        </p:nvSpPr>
        <p:spPr>
          <a:xfrm>
            <a:off x="777240" y="2011680"/>
            <a:ext cx="10637215" cy="274320"/>
          </a:xfrm>
          <a:prstGeom prst="rect">
            <a:avLst/>
          </a:prstGeom>
          <a:noFill/>
        </p:spPr>
        <p:txBody>
          <a:bodyPr wrap="square" anchor="t" lIns="0" rIns="0" tIns="0" bIns="0">
            <a:spAutoFit/>
          </a:bodyPr>
          <a:lstStyle/>
          <a:p>
            <a:pPr algn="l">
              <a:lnSpc>
                <a:spcPct val="112000"/>
              </a:lnSpc>
            </a:pPr>
            <a:r>
              <a:rPr sz="1450" b="0">
                <a:solidFill>
                  <a:srgbClr val="16201C"/>
                </a:solidFill>
                <a:latin typeface="Arial"/>
              </a:rPr>
              <a:t>Sistem beş aşamadan oluşur. Her aşama bir öncekinin çıktısını kullanır.</a:t>
            </a:r>
          </a:p>
        </p:txBody>
      </p:sp>
      <p:sp>
        <p:nvSpPr>
          <p:cNvPr id="9" name="Rectangle 8"/>
          <p:cNvSpPr/>
          <p:nvPr/>
        </p:nvSpPr>
        <p:spPr>
          <a:xfrm>
            <a:off x="777240" y="2606040"/>
            <a:ext cx="1834835"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1</a:t>
            </a:r>
          </a:p>
        </p:txBody>
      </p:sp>
      <p:sp>
        <p:nvSpPr>
          <p:cNvPr id="11" name="TextBox 10"/>
          <p:cNvSpPr txBox="1"/>
          <p:nvPr/>
        </p:nvSpPr>
        <p:spPr>
          <a:xfrm>
            <a:off x="923544" y="3017520"/>
            <a:ext cx="1560515"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Kanonik sinyal</a:t>
            </a:r>
          </a:p>
        </p:txBody>
      </p:sp>
      <p:sp>
        <p:nvSpPr>
          <p:cNvPr id="12" name="TextBox 11"/>
          <p:cNvSpPr txBox="1"/>
          <p:nvPr/>
        </p:nvSpPr>
        <p:spPr>
          <a:xfrm>
            <a:off x="923544" y="3474720"/>
            <a:ext cx="1560515"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Farklı markaların sinyalleri ortak rollere eşlenir</a:t>
            </a:r>
          </a:p>
        </p:txBody>
      </p:sp>
      <p:sp>
        <p:nvSpPr>
          <p:cNvPr id="13" name="Rectangle 12"/>
          <p:cNvSpPr/>
          <p:nvPr/>
        </p:nvSpPr>
        <p:spPr>
          <a:xfrm>
            <a:off x="2977835" y="2606040"/>
            <a:ext cx="1834835"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24139"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2</a:t>
            </a:r>
          </a:p>
        </p:txBody>
      </p:sp>
      <p:sp>
        <p:nvSpPr>
          <p:cNvPr id="15" name="TextBox 14"/>
          <p:cNvSpPr txBox="1"/>
          <p:nvPr/>
        </p:nvSpPr>
        <p:spPr>
          <a:xfrm>
            <a:off x="3124139" y="3017520"/>
            <a:ext cx="1560515"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Baseline sapma</a:t>
            </a:r>
          </a:p>
        </p:txBody>
      </p:sp>
      <p:sp>
        <p:nvSpPr>
          <p:cNvPr id="16" name="TextBox 15"/>
          <p:cNvSpPr txBox="1"/>
          <p:nvPr/>
        </p:nvSpPr>
        <p:spPr>
          <a:xfrm>
            <a:off x="3124139" y="3474720"/>
            <a:ext cx="1560515"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Her sinyalin normalinden sapması ölçülür</a:t>
            </a:r>
          </a:p>
        </p:txBody>
      </p:sp>
      <p:sp>
        <p:nvSpPr>
          <p:cNvPr id="17" name="Rectangle 16"/>
          <p:cNvSpPr/>
          <p:nvPr/>
        </p:nvSpPr>
        <p:spPr>
          <a:xfrm>
            <a:off x="5178430" y="2606040"/>
            <a:ext cx="1834835"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24734"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3</a:t>
            </a:r>
          </a:p>
        </p:txBody>
      </p:sp>
      <p:sp>
        <p:nvSpPr>
          <p:cNvPr id="19" name="TextBox 18"/>
          <p:cNvSpPr txBox="1"/>
          <p:nvPr/>
        </p:nvSpPr>
        <p:spPr>
          <a:xfrm>
            <a:off x="5324734" y="3017520"/>
            <a:ext cx="1560515"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Kök neden</a:t>
            </a:r>
          </a:p>
        </p:txBody>
      </p:sp>
      <p:sp>
        <p:nvSpPr>
          <p:cNvPr id="20" name="TextBox 19"/>
          <p:cNvSpPr txBox="1"/>
          <p:nvPr/>
        </p:nvSpPr>
        <p:spPr>
          <a:xfrm>
            <a:off x="5324734" y="3474720"/>
            <a:ext cx="1560515"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Alarmlar nedensel zincire dizilir</a:t>
            </a:r>
          </a:p>
        </p:txBody>
      </p:sp>
      <p:sp>
        <p:nvSpPr>
          <p:cNvPr id="21" name="Rectangle 20"/>
          <p:cNvSpPr/>
          <p:nvPr/>
        </p:nvSpPr>
        <p:spPr>
          <a:xfrm>
            <a:off x="7379025" y="2606040"/>
            <a:ext cx="1834835"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25329"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4</a:t>
            </a:r>
          </a:p>
        </p:txBody>
      </p:sp>
      <p:sp>
        <p:nvSpPr>
          <p:cNvPr id="23" name="TextBox 22"/>
          <p:cNvSpPr txBox="1"/>
          <p:nvPr/>
        </p:nvSpPr>
        <p:spPr>
          <a:xfrm>
            <a:off x="7525329" y="3017520"/>
            <a:ext cx="1560515"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Duruş tahmini</a:t>
            </a:r>
          </a:p>
        </p:txBody>
      </p:sp>
      <p:sp>
        <p:nvSpPr>
          <p:cNvPr id="24" name="TextBox 23"/>
          <p:cNvSpPr txBox="1"/>
          <p:nvPr/>
        </p:nvSpPr>
        <p:spPr>
          <a:xfrm>
            <a:off x="7525329" y="3474720"/>
            <a:ext cx="1560515"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HistGBDT modeli riski önceden işaretler</a:t>
            </a:r>
          </a:p>
        </p:txBody>
      </p:sp>
      <p:sp>
        <p:nvSpPr>
          <p:cNvPr id="25" name="Rectangle 24"/>
          <p:cNvSpPr/>
          <p:nvPr/>
        </p:nvSpPr>
        <p:spPr>
          <a:xfrm>
            <a:off x="9579620" y="2606040"/>
            <a:ext cx="1834835" cy="1325880"/>
          </a:xfrm>
          <a:prstGeom prst="rect">
            <a:avLst/>
          </a:prstGeom>
          <a:solidFill>
            <a:srgbClr val="ECF4EF"/>
          </a:solidFill>
          <a:ln w="1905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25924" y="2715768"/>
            <a:ext cx="457200" cy="274320"/>
          </a:xfrm>
          <a:prstGeom prst="rect">
            <a:avLst/>
          </a:prstGeom>
          <a:noFill/>
        </p:spPr>
        <p:txBody>
          <a:bodyPr wrap="square" anchor="t" lIns="0" rIns="0" tIns="0" bIns="0">
            <a:spAutoFit/>
          </a:bodyPr>
          <a:lstStyle/>
          <a:p>
            <a:pPr algn="l">
              <a:lnSpc>
                <a:spcPct val="112000"/>
              </a:lnSpc>
            </a:pPr>
            <a:r>
              <a:rPr sz="1200" b="1">
                <a:solidFill>
                  <a:srgbClr val="0F7A52"/>
                </a:solidFill>
                <a:latin typeface="Arial"/>
              </a:rPr>
              <a:t>5</a:t>
            </a:r>
          </a:p>
        </p:txBody>
      </p:sp>
      <p:sp>
        <p:nvSpPr>
          <p:cNvPr id="27" name="TextBox 26"/>
          <p:cNvSpPr txBox="1"/>
          <p:nvPr/>
        </p:nvSpPr>
        <p:spPr>
          <a:xfrm>
            <a:off x="9725924" y="3017520"/>
            <a:ext cx="1560515" cy="457200"/>
          </a:xfrm>
          <a:prstGeom prst="rect">
            <a:avLst/>
          </a:prstGeom>
          <a:noFill/>
        </p:spPr>
        <p:txBody>
          <a:bodyPr wrap="square" anchor="t" lIns="0" rIns="0" tIns="0" bIns="0">
            <a:spAutoFit/>
          </a:bodyPr>
          <a:lstStyle/>
          <a:p>
            <a:pPr algn="l">
              <a:lnSpc>
                <a:spcPct val="112000"/>
              </a:lnSpc>
            </a:pPr>
            <a:r>
              <a:rPr sz="1300" b="1">
                <a:solidFill>
                  <a:srgbClr val="0F7A52"/>
                </a:solidFill>
                <a:latin typeface="Arial"/>
              </a:rPr>
              <a:t>What-If ve OEE</a:t>
            </a:r>
          </a:p>
        </p:txBody>
      </p:sp>
      <p:sp>
        <p:nvSpPr>
          <p:cNvPr id="28" name="TextBox 27"/>
          <p:cNvSpPr txBox="1"/>
          <p:nvPr/>
        </p:nvSpPr>
        <p:spPr>
          <a:xfrm>
            <a:off x="9725924" y="3474720"/>
            <a:ext cx="1560515"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Düzeltmenin OEE kazanımı sayısallaşır</a:t>
            </a:r>
          </a:p>
        </p:txBody>
      </p:sp>
      <p:sp>
        <p:nvSpPr>
          <p:cNvPr id="29" name="TextBox 28"/>
          <p:cNvSpPr txBox="1"/>
          <p:nvPr/>
        </p:nvSpPr>
        <p:spPr>
          <a:xfrm>
            <a:off x="777240" y="4297680"/>
            <a:ext cx="10637215" cy="1828799"/>
          </a:xfrm>
          <a:prstGeom prst="rect">
            <a:avLst/>
          </a:prstGeom>
          <a:noFill/>
        </p:spPr>
        <p:txBody>
          <a:bodyPr wrap="square" lIns="0" tIns="0">
            <a:spAutoFit/>
          </a:bodyPr>
          <a:lstStyle/>
          <a:p>
            <a:pPr>
              <a:lnSpc>
                <a:spcPct val="110000"/>
              </a:lnSpc>
              <a:spcAft>
                <a:spcPts val="600"/>
              </a:spcAft>
            </a:pPr>
            <a:r>
              <a:rPr sz="1250" b="1">
                <a:solidFill>
                  <a:srgbClr val="0F7A52"/>
                </a:solidFill>
                <a:latin typeface="Arial"/>
              </a:rPr>
              <a:t>•  </a:t>
            </a:r>
            <a:r>
              <a:rPr sz="1250">
                <a:solidFill>
                  <a:srgbClr val="16201C"/>
                </a:solidFill>
                <a:latin typeface="Arial"/>
              </a:rPr>
              <a:t>Marka bağımsız rol haritası makineler arası karşılaştırmayı mümkün kılar. Örneğin Fanuc IsNotRunning sinyali ile Mitsubishi RUN_STATUS_START sinyali aynı role eşlenir.</a:t>
            </a:r>
          </a:p>
          <a:p>
            <a:pPr>
              <a:lnSpc>
                <a:spcPct val="110000"/>
              </a:lnSpc>
              <a:spcAft>
                <a:spcPts val="600"/>
              </a:spcAft>
            </a:pPr>
            <a:r>
              <a:rPr sz="1250" b="1">
                <a:solidFill>
                  <a:srgbClr val="0F7A52"/>
                </a:solidFill>
                <a:latin typeface="Arial"/>
              </a:rPr>
              <a:t>•  </a:t>
            </a:r>
            <a:r>
              <a:rPr sz="1250">
                <a:solidFill>
                  <a:srgbClr val="16201C"/>
                </a:solidFill>
                <a:latin typeface="Arial"/>
              </a:rPr>
              <a:t>Her makinenin sinyalleri kendi içinde sağlam istatistiklerle (medyan, çeyrekler açıklığı) normalize edilir, böylece farklı marka ölçekleri ortak bir uzaya taşınır.</a:t>
            </a:r>
          </a:p>
          <a:p>
            <a:pPr>
              <a:lnSpc>
                <a:spcPct val="110000"/>
              </a:lnSpc>
              <a:spcAft>
                <a:spcPts val="600"/>
              </a:spcAft>
            </a:pPr>
            <a:r>
              <a:rPr sz="1250" b="1">
                <a:solidFill>
                  <a:srgbClr val="0F7A52"/>
                </a:solidFill>
                <a:latin typeface="Arial"/>
              </a:rPr>
              <a:t>•  </a:t>
            </a:r>
            <a:r>
              <a:rPr sz="1250">
                <a:solidFill>
                  <a:srgbClr val="16201C"/>
                </a:solidFill>
                <a:latin typeface="Arial"/>
              </a:rPr>
              <a:t>Model eğitimi sızıntıya karşı korumalıdır. Zaman sırasına göre bölünür, yalnızca geçmiş öznitelikler kullanılır ve normalizasyon istatistikleri yalnızca eğitim verisinden hesaplanır.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FİLO DURUMU</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Makine bazında OEE ve ana kayıp kaynağı</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04</a:t>
            </a:r>
          </a:p>
        </p:txBody>
      </p:sp>
      <p:sp>
        <p:nvSpPr>
          <p:cNvPr id="8" name="TextBox 7"/>
          <p:cNvSpPr txBox="1"/>
          <p:nvPr/>
        </p:nvSpPr>
        <p:spPr>
          <a:xfrm>
            <a:off x="777240" y="2011680"/>
            <a:ext cx="10637215" cy="457200"/>
          </a:xfrm>
          <a:prstGeom prst="rect">
            <a:avLst/>
          </a:prstGeom>
          <a:noFill/>
        </p:spPr>
        <p:txBody>
          <a:bodyPr wrap="square" anchor="t" lIns="0" rIns="0" tIns="0" bIns="0">
            <a:spAutoFit/>
          </a:bodyPr>
          <a:lstStyle/>
          <a:p>
            <a:pPr algn="l">
              <a:lnSpc>
                <a:spcPct val="112000"/>
              </a:lnSpc>
            </a:pPr>
            <a:r>
              <a:rPr sz="1350" b="0">
                <a:solidFill>
                  <a:srgbClr val="16201C"/>
                </a:solidFill>
                <a:latin typeface="Arial"/>
              </a:rPr>
              <a:t>Telemetrisi olan ve duruşu kaydedilen yedi makine, OEE değerine göre sıralanmıştır. Yeşil Fanuc, turuncu Mitsubishi makineleri gösterir.</a:t>
            </a:r>
          </a:p>
        </p:txBody>
      </p:sp>
      <p:sp>
        <p:nvSpPr>
          <p:cNvPr id="9" name="TextBox 8"/>
          <p:cNvSpPr txBox="1"/>
          <p:nvPr/>
        </p:nvSpPr>
        <p:spPr>
          <a:xfrm>
            <a:off x="777240" y="2792316"/>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2</a:t>
            </a:r>
          </a:p>
        </p:txBody>
      </p:sp>
      <p:sp>
        <p:nvSpPr>
          <p:cNvPr id="10" name="Rectangle 9"/>
          <p:cNvSpPr/>
          <p:nvPr/>
        </p:nvSpPr>
        <p:spPr>
          <a:xfrm>
            <a:off x="1645919" y="2775073"/>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19" y="2775073"/>
            <a:ext cx="2510393" cy="215537"/>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783694"/>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74.2%</a:t>
            </a:r>
          </a:p>
        </p:txBody>
      </p:sp>
      <p:sp>
        <p:nvSpPr>
          <p:cNvPr id="13" name="TextBox 12"/>
          <p:cNvSpPr txBox="1"/>
          <p:nvPr/>
        </p:nvSpPr>
        <p:spPr>
          <a:xfrm>
            <a:off x="777240" y="3223390"/>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9</a:t>
            </a:r>
          </a:p>
        </p:txBody>
      </p:sp>
      <p:sp>
        <p:nvSpPr>
          <p:cNvPr id="14" name="Rectangle 13"/>
          <p:cNvSpPr/>
          <p:nvPr/>
        </p:nvSpPr>
        <p:spPr>
          <a:xfrm>
            <a:off x="1645919" y="3206147"/>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5919" y="3206147"/>
            <a:ext cx="2120978" cy="215537"/>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214769"/>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62.7%</a:t>
            </a:r>
          </a:p>
        </p:txBody>
      </p:sp>
      <p:sp>
        <p:nvSpPr>
          <p:cNvPr id="17" name="TextBox 16"/>
          <p:cNvSpPr txBox="1"/>
          <p:nvPr/>
        </p:nvSpPr>
        <p:spPr>
          <a:xfrm>
            <a:off x="777240" y="3654464"/>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3</a:t>
            </a:r>
          </a:p>
        </p:txBody>
      </p:sp>
      <p:sp>
        <p:nvSpPr>
          <p:cNvPr id="18" name="Rectangle 17"/>
          <p:cNvSpPr/>
          <p:nvPr/>
        </p:nvSpPr>
        <p:spPr>
          <a:xfrm>
            <a:off x="1645919" y="3637221"/>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45919" y="3637221"/>
            <a:ext cx="1879073" cy="215537"/>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3645843"/>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55.5%</a:t>
            </a:r>
          </a:p>
        </p:txBody>
      </p:sp>
      <p:sp>
        <p:nvSpPr>
          <p:cNvPr id="21" name="TextBox 20"/>
          <p:cNvSpPr txBox="1"/>
          <p:nvPr/>
        </p:nvSpPr>
        <p:spPr>
          <a:xfrm>
            <a:off x="777240" y="4085539"/>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5</a:t>
            </a:r>
          </a:p>
        </p:txBody>
      </p:sp>
      <p:sp>
        <p:nvSpPr>
          <p:cNvPr id="22" name="Rectangle 21"/>
          <p:cNvSpPr/>
          <p:nvPr/>
        </p:nvSpPr>
        <p:spPr>
          <a:xfrm>
            <a:off x="1645919" y="4068296"/>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19" y="4068296"/>
            <a:ext cx="1660175" cy="215537"/>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4076917"/>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49.1%</a:t>
            </a:r>
          </a:p>
        </p:txBody>
      </p:sp>
      <p:sp>
        <p:nvSpPr>
          <p:cNvPr id="25" name="TextBox 24"/>
          <p:cNvSpPr txBox="1"/>
          <p:nvPr/>
        </p:nvSpPr>
        <p:spPr>
          <a:xfrm>
            <a:off x="777240" y="4516613"/>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7</a:t>
            </a:r>
          </a:p>
        </p:txBody>
      </p:sp>
      <p:sp>
        <p:nvSpPr>
          <p:cNvPr id="26" name="Rectangle 25"/>
          <p:cNvSpPr/>
          <p:nvPr/>
        </p:nvSpPr>
        <p:spPr>
          <a:xfrm>
            <a:off x="1645919" y="4499370"/>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19" y="4499370"/>
            <a:ext cx="1601306" cy="215537"/>
          </a:xfrm>
          <a:prstGeom prst="rect">
            <a:avLst/>
          </a:prstGeom>
          <a:solidFill>
            <a:srgbClr val="E0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4507992"/>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47.3%</a:t>
            </a:r>
          </a:p>
        </p:txBody>
      </p:sp>
      <p:sp>
        <p:nvSpPr>
          <p:cNvPr id="29" name="TextBox 28"/>
          <p:cNvSpPr txBox="1"/>
          <p:nvPr/>
        </p:nvSpPr>
        <p:spPr>
          <a:xfrm>
            <a:off x="777240" y="4947687"/>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1</a:t>
            </a:r>
          </a:p>
        </p:txBody>
      </p:sp>
      <p:sp>
        <p:nvSpPr>
          <p:cNvPr id="30" name="Rectangle 29"/>
          <p:cNvSpPr/>
          <p:nvPr/>
        </p:nvSpPr>
        <p:spPr>
          <a:xfrm>
            <a:off x="1645919" y="4930444"/>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19" y="4930444"/>
            <a:ext cx="1354326" cy="215537"/>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20640" y="4939066"/>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40.0%</a:t>
            </a:r>
          </a:p>
        </p:txBody>
      </p:sp>
      <p:sp>
        <p:nvSpPr>
          <p:cNvPr id="33" name="TextBox 32"/>
          <p:cNvSpPr txBox="1"/>
          <p:nvPr/>
        </p:nvSpPr>
        <p:spPr>
          <a:xfrm>
            <a:off x="777240" y="5378762"/>
            <a:ext cx="822960" cy="274320"/>
          </a:xfrm>
          <a:prstGeom prst="rect">
            <a:avLst/>
          </a:prstGeom>
          <a:noFill/>
        </p:spPr>
        <p:txBody>
          <a:bodyPr wrap="square" anchor="t" lIns="0" rIns="0" tIns="0" bIns="0">
            <a:spAutoFit/>
          </a:bodyPr>
          <a:lstStyle/>
          <a:p>
            <a:pPr algn="l">
              <a:lnSpc>
                <a:spcPct val="112000"/>
              </a:lnSpc>
            </a:pPr>
            <a:r>
              <a:rPr sz="1050" b="0">
                <a:solidFill>
                  <a:srgbClr val="16201C"/>
                </a:solidFill>
                <a:latin typeface="Arial"/>
              </a:rPr>
              <a:t>M 8</a:t>
            </a:r>
          </a:p>
        </p:txBody>
      </p:sp>
      <p:sp>
        <p:nvSpPr>
          <p:cNvPr id="34" name="Rectangle 33"/>
          <p:cNvSpPr/>
          <p:nvPr/>
        </p:nvSpPr>
        <p:spPr>
          <a:xfrm>
            <a:off x="1645919" y="5361519"/>
            <a:ext cx="3383280" cy="215537"/>
          </a:xfrm>
          <a:prstGeom prst="rect">
            <a:avLst/>
          </a:prstGeom>
          <a:solidFill>
            <a:srgbClr val="EE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45919" y="5361519"/>
            <a:ext cx="27432" cy="215537"/>
          </a:xfrm>
          <a:prstGeom prst="rect">
            <a:avLst/>
          </a:prstGeom>
          <a:solidFill>
            <a:srgbClr val="E0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0" y="5370140"/>
            <a:ext cx="1005840" cy="274320"/>
          </a:xfrm>
          <a:prstGeom prst="rect">
            <a:avLst/>
          </a:prstGeom>
          <a:noFill/>
        </p:spPr>
        <p:txBody>
          <a:bodyPr wrap="square" anchor="t" lIns="0" rIns="0" tIns="0" bIns="0">
            <a:spAutoFit/>
          </a:bodyPr>
          <a:lstStyle/>
          <a:p>
            <a:pPr algn="l">
              <a:lnSpc>
                <a:spcPct val="112000"/>
              </a:lnSpc>
            </a:pPr>
            <a:r>
              <a:rPr sz="1050" b="1">
                <a:solidFill>
                  <a:srgbClr val="16201C"/>
                </a:solidFill>
                <a:latin typeface="Arial"/>
              </a:rPr>
              <a:t>0.0%</a:t>
            </a:r>
          </a:p>
        </p:txBody>
      </p:sp>
      <p:sp>
        <p:nvSpPr>
          <p:cNvPr id="37" name="Rectangle 36"/>
          <p:cNvSpPr/>
          <p:nvPr/>
        </p:nvSpPr>
        <p:spPr>
          <a:xfrm>
            <a:off x="6766560" y="2697480"/>
            <a:ext cx="4617720" cy="3017520"/>
          </a:xfrm>
          <a:prstGeom prst="rect">
            <a:avLst/>
          </a:prstGeom>
          <a:solidFill>
            <a:srgbClr val="ECF4EF"/>
          </a:solidFill>
          <a:ln w="1397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67728" y="2880360"/>
            <a:ext cx="4297680" cy="274320"/>
          </a:xfrm>
          <a:prstGeom prst="rect">
            <a:avLst/>
          </a:prstGeom>
          <a:noFill/>
        </p:spPr>
        <p:txBody>
          <a:bodyPr wrap="square" anchor="t" lIns="0" rIns="0" tIns="0" bIns="0">
            <a:spAutoFit/>
          </a:bodyPr>
          <a:lstStyle/>
          <a:p>
            <a:pPr algn="l">
              <a:lnSpc>
                <a:spcPct val="112000"/>
              </a:lnSpc>
            </a:pPr>
            <a:r>
              <a:rPr sz="1200" b="1">
                <a:solidFill>
                  <a:srgbClr val="0F7A52"/>
                </a:solidFill>
                <a:latin typeface="Arial"/>
              </a:rPr>
              <a:t>Ne görüyoruz?</a:t>
            </a:r>
          </a:p>
        </p:txBody>
      </p:sp>
      <p:sp>
        <p:nvSpPr>
          <p:cNvPr id="39" name="TextBox 38"/>
          <p:cNvSpPr txBox="1"/>
          <p:nvPr/>
        </p:nvSpPr>
        <p:spPr>
          <a:xfrm>
            <a:off x="6967728" y="3200400"/>
            <a:ext cx="4160520" cy="2926080"/>
          </a:xfrm>
          <a:prstGeom prst="rect">
            <a:avLst/>
          </a:prstGeom>
          <a:noFill/>
        </p:spPr>
        <p:txBody>
          <a:bodyPr wrap="square" lIns="0" tIns="0">
            <a:spAutoFit/>
          </a:bodyPr>
          <a:lstStyle/>
          <a:p>
            <a:pPr>
              <a:lnSpc>
                <a:spcPct val="110000"/>
              </a:lnSpc>
              <a:spcAft>
                <a:spcPts val="600"/>
              </a:spcAft>
            </a:pPr>
            <a:r>
              <a:rPr sz="1050" b="1">
                <a:solidFill>
                  <a:srgbClr val="0F7A52"/>
                </a:solidFill>
                <a:latin typeface="Arial"/>
              </a:rPr>
              <a:t>•  </a:t>
            </a:r>
            <a:r>
              <a:rPr sz="1050">
                <a:solidFill>
                  <a:srgbClr val="16201C"/>
                </a:solidFill>
                <a:latin typeface="Arial"/>
              </a:rPr>
              <a:t>OEE değerleri yüzde 0 ile yüzde 74 arasında dağılır. En iyi makine bile yüzde 75'in altındadır, yani iyileştirme alanı geniştir.</a:t>
            </a:r>
          </a:p>
          <a:p>
            <a:pPr>
              <a:lnSpc>
                <a:spcPct val="110000"/>
              </a:lnSpc>
              <a:spcAft>
                <a:spcPts val="600"/>
              </a:spcAft>
            </a:pPr>
            <a:r>
              <a:rPr sz="1050" b="1">
                <a:solidFill>
                  <a:srgbClr val="0F7A52"/>
                </a:solidFill>
                <a:latin typeface="Arial"/>
              </a:rPr>
              <a:t>•  </a:t>
            </a:r>
            <a:r>
              <a:rPr sz="1050">
                <a:solidFill>
                  <a:srgbClr val="16201C"/>
                </a:solidFill>
                <a:latin typeface="Arial"/>
              </a:rPr>
              <a:t>Makine 8'in OEE değeri 0'dır çünkü o dönemde üretim kaydı yoktur. Duruşu gerçektir, fakat Performans çarpanı 0 olduğu için OEE sıfırlanır.</a:t>
            </a:r>
          </a:p>
          <a:p>
            <a:pPr>
              <a:lnSpc>
                <a:spcPct val="110000"/>
              </a:lnSpc>
              <a:spcAft>
                <a:spcPts val="600"/>
              </a:spcAft>
            </a:pPr>
            <a:r>
              <a:rPr sz="1050" b="1">
                <a:solidFill>
                  <a:srgbClr val="0F7A52"/>
                </a:solidFill>
                <a:latin typeface="Arial"/>
              </a:rPr>
              <a:t>•  </a:t>
            </a:r>
            <a:r>
              <a:rPr sz="1050">
                <a:solidFill>
                  <a:srgbClr val="16201C"/>
                </a:solidFill>
                <a:latin typeface="Arial"/>
              </a:rPr>
              <a:t>Tüm makinelerde OEE pratikte Kullanılabilirlik tarafından belirlenir.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KÖK NEDEN</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Baseline sapma ve alarm zinciri</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05</a:t>
            </a:r>
          </a:p>
        </p:txBody>
      </p:sp>
      <p:sp>
        <p:nvSpPr>
          <p:cNvPr id="8" name="TextBox 7"/>
          <p:cNvSpPr txBox="1"/>
          <p:nvPr/>
        </p:nvSpPr>
        <p:spPr>
          <a:xfrm>
            <a:off x="777240" y="2011680"/>
            <a:ext cx="10637215" cy="274320"/>
          </a:xfrm>
          <a:prstGeom prst="rect">
            <a:avLst/>
          </a:prstGeom>
          <a:noFill/>
        </p:spPr>
        <p:txBody>
          <a:bodyPr wrap="square" anchor="t" lIns="0" rIns="0" tIns="0" bIns="0">
            <a:spAutoFit/>
          </a:bodyPr>
          <a:lstStyle/>
          <a:p>
            <a:pPr algn="l">
              <a:lnSpc>
                <a:spcPct val="112000"/>
              </a:lnSpc>
            </a:pPr>
            <a:r>
              <a:rPr sz="1400" b="0">
                <a:solidFill>
                  <a:srgbClr val="6B776F"/>
                </a:solidFill>
                <a:latin typeface="Arial"/>
              </a:rPr>
              <a:t>Örnek olay: Makine 1, 12 Ocak 2026 saat 04:47.</a:t>
            </a:r>
          </a:p>
        </p:txBody>
      </p:sp>
      <p:sp>
        <p:nvSpPr>
          <p:cNvPr id="9" name="Rectangle 8"/>
          <p:cNvSpPr/>
          <p:nvPr/>
        </p:nvSpPr>
        <p:spPr>
          <a:xfrm>
            <a:off x="777240" y="2606040"/>
            <a:ext cx="3291840" cy="822960"/>
          </a:xfrm>
          <a:prstGeom prst="rect">
            <a:avLst/>
          </a:prstGeom>
          <a:solidFill>
            <a:srgbClr val="ECF4EF"/>
          </a:solidFill>
          <a:ln w="1905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43200"/>
            <a:ext cx="3291840" cy="274320"/>
          </a:xfrm>
          <a:prstGeom prst="rect">
            <a:avLst/>
          </a:prstGeom>
          <a:noFill/>
        </p:spPr>
        <p:txBody>
          <a:bodyPr wrap="square" anchor="t" lIns="0" rIns="0" tIns="0" bIns="0">
            <a:spAutoFit/>
          </a:bodyPr>
          <a:lstStyle/>
          <a:p>
            <a:pPr algn="ctr">
              <a:lnSpc>
                <a:spcPct val="112000"/>
              </a:lnSpc>
            </a:pPr>
            <a:r>
              <a:rPr sz="1350" b="1">
                <a:solidFill>
                  <a:srgbClr val="0F7A52"/>
                </a:solidFill>
                <a:latin typeface="Arial"/>
              </a:rPr>
              <a:t>AIR PRESSURE FAILED</a:t>
            </a:r>
          </a:p>
        </p:txBody>
      </p:sp>
      <p:sp>
        <p:nvSpPr>
          <p:cNvPr id="11" name="TextBox 10"/>
          <p:cNvSpPr txBox="1"/>
          <p:nvPr/>
        </p:nvSpPr>
        <p:spPr>
          <a:xfrm>
            <a:off x="777240" y="3063240"/>
            <a:ext cx="3291840" cy="274320"/>
          </a:xfrm>
          <a:prstGeom prst="rect">
            <a:avLst/>
          </a:prstGeom>
          <a:noFill/>
        </p:spPr>
        <p:txBody>
          <a:bodyPr wrap="square" anchor="t" lIns="0" rIns="0" tIns="0" bIns="0">
            <a:spAutoFit/>
          </a:bodyPr>
          <a:lstStyle/>
          <a:p>
            <a:pPr algn="ctr">
              <a:lnSpc>
                <a:spcPct val="112000"/>
              </a:lnSpc>
            </a:pPr>
            <a:r>
              <a:rPr sz="1100" b="0">
                <a:solidFill>
                  <a:srgbClr val="0F7A52"/>
                </a:solidFill>
                <a:latin typeface="Arial"/>
              </a:rPr>
              <a:t>kök neden</a:t>
            </a:r>
          </a:p>
        </p:txBody>
      </p:sp>
      <p:sp>
        <p:nvSpPr>
          <p:cNvPr id="12" name="Rectangle 11"/>
          <p:cNvSpPr/>
          <p:nvPr/>
        </p:nvSpPr>
        <p:spPr>
          <a:xfrm>
            <a:off x="4754879" y="2606040"/>
            <a:ext cx="3291840" cy="82296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2743200"/>
            <a:ext cx="3291840" cy="274320"/>
          </a:xfrm>
          <a:prstGeom prst="rect">
            <a:avLst/>
          </a:prstGeom>
          <a:noFill/>
        </p:spPr>
        <p:txBody>
          <a:bodyPr wrap="square" anchor="t" lIns="0" rIns="0" tIns="0" bIns="0">
            <a:spAutoFit/>
          </a:bodyPr>
          <a:lstStyle/>
          <a:p>
            <a:pPr algn="ctr">
              <a:lnSpc>
                <a:spcPct val="112000"/>
              </a:lnSpc>
            </a:pPr>
            <a:r>
              <a:rPr sz="1350" b="1">
                <a:solidFill>
                  <a:srgbClr val="16201C"/>
                </a:solidFill>
                <a:latin typeface="Arial"/>
              </a:rPr>
              <a:t>Z-AXIS ZERO RETURN</a:t>
            </a:r>
          </a:p>
        </p:txBody>
      </p:sp>
      <p:sp>
        <p:nvSpPr>
          <p:cNvPr id="14" name="TextBox 13"/>
          <p:cNvSpPr txBox="1"/>
          <p:nvPr/>
        </p:nvSpPr>
        <p:spPr>
          <a:xfrm>
            <a:off x="4754879" y="3063240"/>
            <a:ext cx="3291840" cy="274320"/>
          </a:xfrm>
          <a:prstGeom prst="rect">
            <a:avLst/>
          </a:prstGeom>
          <a:noFill/>
        </p:spPr>
        <p:txBody>
          <a:bodyPr wrap="square" anchor="t" lIns="0" rIns="0" tIns="0" bIns="0">
            <a:spAutoFit/>
          </a:bodyPr>
          <a:lstStyle/>
          <a:p>
            <a:pPr algn="ctr">
              <a:lnSpc>
                <a:spcPct val="112000"/>
              </a:lnSpc>
            </a:pPr>
            <a:r>
              <a:rPr sz="1100" b="0">
                <a:solidFill>
                  <a:srgbClr val="6B776F"/>
                </a:solidFill>
                <a:latin typeface="Arial"/>
              </a:rPr>
              <a:t>bu alarmın sonucu</a:t>
            </a:r>
          </a:p>
        </p:txBody>
      </p:sp>
      <p:sp>
        <p:nvSpPr>
          <p:cNvPr id="15" name="TextBox 14"/>
          <p:cNvSpPr txBox="1"/>
          <p:nvPr/>
        </p:nvSpPr>
        <p:spPr>
          <a:xfrm>
            <a:off x="777240" y="3749039"/>
            <a:ext cx="10637215" cy="2377440"/>
          </a:xfrm>
          <a:prstGeom prst="rect">
            <a:avLst/>
          </a:prstGeom>
          <a:noFill/>
        </p:spPr>
        <p:txBody>
          <a:bodyPr wrap="square" lIns="0" tIns="0">
            <a:spAutoFit/>
          </a:bodyPr>
          <a:lstStyle/>
          <a:p>
            <a:pPr>
              <a:lnSpc>
                <a:spcPct val="110000"/>
              </a:lnSpc>
              <a:spcAft>
                <a:spcPts val="800"/>
              </a:spcAft>
            </a:pPr>
            <a:r>
              <a:rPr sz="1350" b="1">
                <a:solidFill>
                  <a:srgbClr val="0F7A52"/>
                </a:solidFill>
                <a:latin typeface="Arial"/>
              </a:rPr>
              <a:t>•  </a:t>
            </a:r>
            <a:r>
              <a:rPr sz="1350">
                <a:solidFill>
                  <a:srgbClr val="16201C"/>
                </a:solidFill>
                <a:latin typeface="Arial"/>
              </a:rPr>
              <a:t>Olay anında birden fazla sinyal baseline değerinden sapar. run_state sinyali eksi 7,7 standart sapmaya iner, yani makine durur. cycle_time eksi 0,8 standart sapma gösterir.</a:t>
            </a:r>
          </a:p>
          <a:p>
            <a:pPr>
              <a:lnSpc>
                <a:spcPct val="110000"/>
              </a:lnSpc>
              <a:spcAft>
                <a:spcPts val="800"/>
              </a:spcAft>
            </a:pPr>
            <a:r>
              <a:rPr sz="1350" b="1">
                <a:solidFill>
                  <a:srgbClr val="0F7A52"/>
                </a:solidFill>
                <a:latin typeface="Arial"/>
              </a:rPr>
              <a:t>•  </a:t>
            </a:r>
            <a:r>
              <a:rPr sz="1350">
                <a:solidFill>
                  <a:srgbClr val="16201C"/>
                </a:solidFill>
                <a:latin typeface="Arial"/>
              </a:rPr>
              <a:t>Aynı anda gelen alarmlar dizine göre değil, fiziksel nedensel önceliğe göre sıralanır. Kök neden hava basıncıdır, Z ekseni hatası onun sonucudur.</a:t>
            </a:r>
          </a:p>
          <a:p>
            <a:pPr>
              <a:lnSpc>
                <a:spcPct val="110000"/>
              </a:lnSpc>
              <a:spcAft>
                <a:spcPts val="800"/>
              </a:spcAft>
            </a:pPr>
            <a:r>
              <a:rPr sz="1350" b="1">
                <a:solidFill>
                  <a:srgbClr val="0F7A52"/>
                </a:solidFill>
                <a:latin typeface="Arial"/>
              </a:rPr>
              <a:t>•  </a:t>
            </a:r>
            <a:r>
              <a:rPr sz="1350">
                <a:solidFill>
                  <a:srgbClr val="16201C"/>
                </a:solidFill>
                <a:latin typeface="Arial"/>
              </a:rPr>
              <a:t>Sistemin çıktısı yalnızca bir alarm değildir. Kanıtı, sıralı hipotezleri ve uygulanabilir bakım aksiyonunu içeren bir kök neden kartıdır.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TAHMİN</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Duruş tahmin modeli ve eğitilen alternatifler</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06</a:t>
            </a:r>
          </a:p>
        </p:txBody>
      </p:sp>
      <p:sp>
        <p:nvSpPr>
          <p:cNvPr id="8" name="Rectangle 7"/>
          <p:cNvSpPr/>
          <p:nvPr/>
        </p:nvSpPr>
        <p:spPr>
          <a:xfrm>
            <a:off x="777240" y="2011680"/>
            <a:ext cx="2487853" cy="10972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762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0,73</a:t>
            </a:r>
          </a:p>
        </p:txBody>
      </p:sp>
      <p:sp>
        <p:nvSpPr>
          <p:cNvPr id="10" name="TextBox 9"/>
          <p:cNvSpPr txBox="1"/>
          <p:nvPr/>
        </p:nvSpPr>
        <p:spPr>
          <a:xfrm>
            <a:off x="868680" y="28163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ROC-AUC · Fanuc</a:t>
            </a:r>
          </a:p>
        </p:txBody>
      </p:sp>
      <p:sp>
        <p:nvSpPr>
          <p:cNvPr id="11" name="Rectangle 10"/>
          <p:cNvSpPr/>
          <p:nvPr/>
        </p:nvSpPr>
        <p:spPr>
          <a:xfrm>
            <a:off x="3493693" y="2011680"/>
            <a:ext cx="2487853" cy="10972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693" y="21762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2,38×</a:t>
            </a:r>
          </a:p>
        </p:txBody>
      </p:sp>
      <p:sp>
        <p:nvSpPr>
          <p:cNvPr id="13" name="TextBox 12"/>
          <p:cNvSpPr txBox="1"/>
          <p:nvPr/>
        </p:nvSpPr>
        <p:spPr>
          <a:xfrm>
            <a:off x="3585133" y="28163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Lift · Fanuc</a:t>
            </a:r>
          </a:p>
        </p:txBody>
      </p:sp>
      <p:sp>
        <p:nvSpPr>
          <p:cNvPr id="14" name="Rectangle 13"/>
          <p:cNvSpPr/>
          <p:nvPr/>
        </p:nvSpPr>
        <p:spPr>
          <a:xfrm>
            <a:off x="6210147" y="2011680"/>
            <a:ext cx="2487853" cy="10972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0147" y="21762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%69</a:t>
            </a:r>
          </a:p>
        </p:txBody>
      </p:sp>
      <p:sp>
        <p:nvSpPr>
          <p:cNvPr id="16" name="TextBox 15"/>
          <p:cNvSpPr txBox="1"/>
          <p:nvPr/>
        </p:nvSpPr>
        <p:spPr>
          <a:xfrm>
            <a:off x="6301587" y="28163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Recall · held-out</a:t>
            </a:r>
          </a:p>
        </p:txBody>
      </p:sp>
      <p:sp>
        <p:nvSpPr>
          <p:cNvPr id="17" name="Rectangle 16"/>
          <p:cNvSpPr/>
          <p:nvPr/>
        </p:nvSpPr>
        <p:spPr>
          <a:xfrm>
            <a:off x="8926601" y="2011680"/>
            <a:ext cx="2487853" cy="10972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6601" y="21762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1,2×</a:t>
            </a:r>
          </a:p>
        </p:txBody>
      </p:sp>
      <p:sp>
        <p:nvSpPr>
          <p:cNvPr id="19" name="TextBox 18"/>
          <p:cNvSpPr txBox="1"/>
          <p:nvPr/>
        </p:nvSpPr>
        <p:spPr>
          <a:xfrm>
            <a:off x="9018041" y="28163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Lift · Mitsubishi</a:t>
            </a:r>
          </a:p>
        </p:txBody>
      </p:sp>
      <p:sp>
        <p:nvSpPr>
          <p:cNvPr id="20" name="Rectangle 19"/>
          <p:cNvSpPr/>
          <p:nvPr/>
        </p:nvSpPr>
        <p:spPr>
          <a:xfrm>
            <a:off x="777240" y="3337560"/>
            <a:ext cx="274320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419856"/>
            <a:ext cx="257860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Eğitim verisi</a:t>
            </a:r>
          </a:p>
        </p:txBody>
      </p:sp>
      <p:sp>
        <p:nvSpPr>
          <p:cNvPr id="22" name="Rectangle 21"/>
          <p:cNvSpPr/>
          <p:nvPr/>
        </p:nvSpPr>
        <p:spPr>
          <a:xfrm>
            <a:off x="3520440" y="3337560"/>
            <a:ext cx="155448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11880" y="3419856"/>
            <a:ext cx="138988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Test</a:t>
            </a:r>
          </a:p>
        </p:txBody>
      </p:sp>
      <p:sp>
        <p:nvSpPr>
          <p:cNvPr id="24" name="Rectangle 23"/>
          <p:cNvSpPr/>
          <p:nvPr/>
        </p:nvSpPr>
        <p:spPr>
          <a:xfrm>
            <a:off x="5074920" y="3337560"/>
            <a:ext cx="91440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66359" y="3419856"/>
            <a:ext cx="74980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ROC</a:t>
            </a:r>
          </a:p>
        </p:txBody>
      </p:sp>
      <p:sp>
        <p:nvSpPr>
          <p:cNvPr id="26" name="Rectangle 25"/>
          <p:cNvSpPr/>
          <p:nvPr/>
        </p:nvSpPr>
        <p:spPr>
          <a:xfrm>
            <a:off x="5989320" y="3337560"/>
            <a:ext cx="91440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0759" y="3419856"/>
            <a:ext cx="74980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Lift</a:t>
            </a:r>
          </a:p>
        </p:txBody>
      </p:sp>
      <p:sp>
        <p:nvSpPr>
          <p:cNvPr id="28" name="Rectangle 27"/>
          <p:cNvSpPr/>
          <p:nvPr/>
        </p:nvSpPr>
        <p:spPr>
          <a:xfrm>
            <a:off x="6903720" y="3337560"/>
            <a:ext cx="100584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95159" y="3419856"/>
            <a:ext cx="84124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Recall</a:t>
            </a:r>
          </a:p>
        </p:txBody>
      </p:sp>
      <p:sp>
        <p:nvSpPr>
          <p:cNvPr id="30" name="Rectangle 29"/>
          <p:cNvSpPr/>
          <p:nvPr/>
        </p:nvSpPr>
        <p:spPr>
          <a:xfrm>
            <a:off x="7909560" y="3337560"/>
            <a:ext cx="3502152"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0" y="3419856"/>
            <a:ext cx="3337560"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Not</a:t>
            </a:r>
          </a:p>
        </p:txBody>
      </p:sp>
      <p:sp>
        <p:nvSpPr>
          <p:cNvPr id="32" name="Rectangle 31"/>
          <p:cNvSpPr/>
          <p:nvPr/>
        </p:nvSpPr>
        <p:spPr>
          <a:xfrm>
            <a:off x="777240" y="3721608"/>
            <a:ext cx="274320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3813048"/>
            <a:ext cx="2578608" cy="310896"/>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Fanuc (ayarlanmış)</a:t>
            </a:r>
          </a:p>
        </p:txBody>
      </p:sp>
      <p:sp>
        <p:nvSpPr>
          <p:cNvPr id="34" name="Rectangle 33"/>
          <p:cNvSpPr/>
          <p:nvPr/>
        </p:nvSpPr>
        <p:spPr>
          <a:xfrm>
            <a:off x="3520440" y="3721608"/>
            <a:ext cx="155448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11880" y="3813048"/>
            <a:ext cx="1389888" cy="310896"/>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Fanuc</a:t>
            </a:r>
          </a:p>
        </p:txBody>
      </p:sp>
      <p:sp>
        <p:nvSpPr>
          <p:cNvPr id="36" name="Rectangle 35"/>
          <p:cNvSpPr/>
          <p:nvPr/>
        </p:nvSpPr>
        <p:spPr>
          <a:xfrm>
            <a:off x="5074920" y="3721608"/>
            <a:ext cx="91440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66359" y="3813048"/>
            <a:ext cx="749808" cy="310896"/>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0,73</a:t>
            </a:r>
          </a:p>
        </p:txBody>
      </p:sp>
      <p:sp>
        <p:nvSpPr>
          <p:cNvPr id="38" name="Rectangle 37"/>
          <p:cNvSpPr/>
          <p:nvPr/>
        </p:nvSpPr>
        <p:spPr>
          <a:xfrm>
            <a:off x="5989320" y="3721608"/>
            <a:ext cx="91440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80759" y="3813048"/>
            <a:ext cx="749808" cy="310896"/>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2,38×</a:t>
            </a:r>
          </a:p>
        </p:txBody>
      </p:sp>
      <p:sp>
        <p:nvSpPr>
          <p:cNvPr id="40" name="Rectangle 39"/>
          <p:cNvSpPr/>
          <p:nvPr/>
        </p:nvSpPr>
        <p:spPr>
          <a:xfrm>
            <a:off x="6903720" y="3721608"/>
            <a:ext cx="100584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95159" y="3813048"/>
            <a:ext cx="841248" cy="310896"/>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%69</a:t>
            </a:r>
          </a:p>
        </p:txBody>
      </p:sp>
      <p:sp>
        <p:nvSpPr>
          <p:cNvPr id="42" name="Rectangle 41"/>
          <p:cNvSpPr/>
          <p:nvPr/>
        </p:nvSpPr>
        <p:spPr>
          <a:xfrm>
            <a:off x="7909560" y="3721608"/>
            <a:ext cx="3502152"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01000" y="3813048"/>
            <a:ext cx="3337560" cy="310896"/>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Dağıtılan model</a:t>
            </a:r>
          </a:p>
        </p:txBody>
      </p:sp>
      <p:sp>
        <p:nvSpPr>
          <p:cNvPr id="44" name="Rectangle 43"/>
          <p:cNvSpPr/>
          <p:nvPr/>
        </p:nvSpPr>
        <p:spPr>
          <a:xfrm>
            <a:off x="777240" y="4123944"/>
            <a:ext cx="27432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4215384"/>
            <a:ext cx="257860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Fanuc (temel)</a:t>
            </a:r>
          </a:p>
        </p:txBody>
      </p:sp>
      <p:sp>
        <p:nvSpPr>
          <p:cNvPr id="46" name="Rectangle 45"/>
          <p:cNvSpPr/>
          <p:nvPr/>
        </p:nvSpPr>
        <p:spPr>
          <a:xfrm>
            <a:off x="3520440" y="4123944"/>
            <a:ext cx="15544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11880" y="4215384"/>
            <a:ext cx="13898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Fanuc</a:t>
            </a:r>
          </a:p>
        </p:txBody>
      </p:sp>
      <p:sp>
        <p:nvSpPr>
          <p:cNvPr id="48" name="Rectangle 47"/>
          <p:cNvSpPr/>
          <p:nvPr/>
        </p:nvSpPr>
        <p:spPr>
          <a:xfrm>
            <a:off x="5074920" y="4123944"/>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66359" y="4215384"/>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0,68</a:t>
            </a:r>
          </a:p>
        </p:txBody>
      </p:sp>
      <p:sp>
        <p:nvSpPr>
          <p:cNvPr id="50" name="Rectangle 49"/>
          <p:cNvSpPr/>
          <p:nvPr/>
        </p:nvSpPr>
        <p:spPr>
          <a:xfrm>
            <a:off x="5989320" y="4123944"/>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80759" y="4215384"/>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2,0×</a:t>
            </a:r>
          </a:p>
        </p:txBody>
      </p:sp>
      <p:sp>
        <p:nvSpPr>
          <p:cNvPr id="52" name="Rectangle 51"/>
          <p:cNvSpPr/>
          <p:nvPr/>
        </p:nvSpPr>
        <p:spPr>
          <a:xfrm>
            <a:off x="6903720" y="4123944"/>
            <a:ext cx="100584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95159" y="4215384"/>
            <a:ext cx="84124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%59</a:t>
            </a:r>
          </a:p>
        </p:txBody>
      </p:sp>
      <p:sp>
        <p:nvSpPr>
          <p:cNvPr id="54" name="Rectangle 53"/>
          <p:cNvSpPr/>
          <p:nvPr/>
        </p:nvSpPr>
        <p:spPr>
          <a:xfrm>
            <a:off x="7909560" y="4123944"/>
            <a:ext cx="350215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01000" y="4215384"/>
            <a:ext cx="333756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Izgara aramadan önce</a:t>
            </a:r>
          </a:p>
        </p:txBody>
      </p:sp>
      <p:sp>
        <p:nvSpPr>
          <p:cNvPr id="56" name="Rectangle 55"/>
          <p:cNvSpPr/>
          <p:nvPr/>
        </p:nvSpPr>
        <p:spPr>
          <a:xfrm>
            <a:off x="777240" y="4526280"/>
            <a:ext cx="27432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8680" y="4617720"/>
            <a:ext cx="257860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Birleşik + z-norm</a:t>
            </a:r>
          </a:p>
        </p:txBody>
      </p:sp>
      <p:sp>
        <p:nvSpPr>
          <p:cNvPr id="58" name="Rectangle 57"/>
          <p:cNvSpPr/>
          <p:nvPr/>
        </p:nvSpPr>
        <p:spPr>
          <a:xfrm>
            <a:off x="3520440" y="4526280"/>
            <a:ext cx="15544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611880" y="4617720"/>
            <a:ext cx="13898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Fanuc</a:t>
            </a:r>
          </a:p>
        </p:txBody>
      </p:sp>
      <p:sp>
        <p:nvSpPr>
          <p:cNvPr id="60" name="Rectangle 59"/>
          <p:cNvSpPr/>
          <p:nvPr/>
        </p:nvSpPr>
        <p:spPr>
          <a:xfrm>
            <a:off x="5074920" y="4526280"/>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66359" y="4617720"/>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0,72</a:t>
            </a:r>
          </a:p>
        </p:txBody>
      </p:sp>
      <p:sp>
        <p:nvSpPr>
          <p:cNvPr id="62" name="Rectangle 61"/>
          <p:cNvSpPr/>
          <p:nvPr/>
        </p:nvSpPr>
        <p:spPr>
          <a:xfrm>
            <a:off x="5989320" y="4526280"/>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80759" y="4617720"/>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2,33×</a:t>
            </a:r>
          </a:p>
        </p:txBody>
      </p:sp>
      <p:sp>
        <p:nvSpPr>
          <p:cNvPr id="64" name="Rectangle 63"/>
          <p:cNvSpPr/>
          <p:nvPr/>
        </p:nvSpPr>
        <p:spPr>
          <a:xfrm>
            <a:off x="6903720" y="4526280"/>
            <a:ext cx="100584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995159" y="4617720"/>
            <a:ext cx="84124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%48</a:t>
            </a:r>
          </a:p>
        </p:txBody>
      </p:sp>
      <p:sp>
        <p:nvSpPr>
          <p:cNvPr id="66" name="Rectangle 65"/>
          <p:cNvSpPr/>
          <p:nvPr/>
        </p:nvSpPr>
        <p:spPr>
          <a:xfrm>
            <a:off x="7909560" y="4526280"/>
            <a:ext cx="350215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01000" y="4617720"/>
            <a:ext cx="333756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Marka transferi katkı vermedi</a:t>
            </a:r>
          </a:p>
        </p:txBody>
      </p:sp>
      <p:sp>
        <p:nvSpPr>
          <p:cNvPr id="68" name="Rectangle 67"/>
          <p:cNvSpPr/>
          <p:nvPr/>
        </p:nvSpPr>
        <p:spPr>
          <a:xfrm>
            <a:off x="777240" y="4928616"/>
            <a:ext cx="27432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68680" y="5020056"/>
            <a:ext cx="257860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Mitsubishi</a:t>
            </a:r>
          </a:p>
        </p:txBody>
      </p:sp>
      <p:sp>
        <p:nvSpPr>
          <p:cNvPr id="70" name="Rectangle 69"/>
          <p:cNvSpPr/>
          <p:nvPr/>
        </p:nvSpPr>
        <p:spPr>
          <a:xfrm>
            <a:off x="3520440" y="4928616"/>
            <a:ext cx="15544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11880" y="5020056"/>
            <a:ext cx="13898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Mitsubishi</a:t>
            </a:r>
          </a:p>
        </p:txBody>
      </p:sp>
      <p:sp>
        <p:nvSpPr>
          <p:cNvPr id="72" name="Rectangle 71"/>
          <p:cNvSpPr/>
          <p:nvPr/>
        </p:nvSpPr>
        <p:spPr>
          <a:xfrm>
            <a:off x="5074920" y="4928616"/>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66359" y="5020056"/>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0,61</a:t>
            </a:r>
          </a:p>
        </p:txBody>
      </p:sp>
      <p:sp>
        <p:nvSpPr>
          <p:cNvPr id="74" name="Rectangle 73"/>
          <p:cNvSpPr/>
          <p:nvPr/>
        </p:nvSpPr>
        <p:spPr>
          <a:xfrm>
            <a:off x="5989320" y="4928616"/>
            <a:ext cx="91440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80759" y="5020056"/>
            <a:ext cx="74980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1,2×</a:t>
            </a:r>
          </a:p>
        </p:txBody>
      </p:sp>
      <p:sp>
        <p:nvSpPr>
          <p:cNvPr id="76" name="Rectangle 75"/>
          <p:cNvSpPr/>
          <p:nvPr/>
        </p:nvSpPr>
        <p:spPr>
          <a:xfrm>
            <a:off x="6903720" y="4928616"/>
            <a:ext cx="100584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995159" y="5020056"/>
            <a:ext cx="84124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%97</a:t>
            </a:r>
          </a:p>
        </p:txBody>
      </p:sp>
      <p:sp>
        <p:nvSpPr>
          <p:cNvPr id="78" name="Rectangle 77"/>
          <p:cNvSpPr/>
          <p:nvPr/>
        </p:nvSpPr>
        <p:spPr>
          <a:xfrm>
            <a:off x="7909560" y="4928616"/>
            <a:ext cx="350215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01000" y="5020056"/>
            <a:ext cx="333756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Taban %53, yüksek recall yanıltıcı</a:t>
            </a:r>
          </a:p>
        </p:txBody>
      </p:sp>
      <p:sp>
        <p:nvSpPr>
          <p:cNvPr id="80" name="TextBox 79"/>
          <p:cNvSpPr txBox="1"/>
          <p:nvPr/>
        </p:nvSpPr>
        <p:spPr>
          <a:xfrm>
            <a:off x="777240" y="5715000"/>
            <a:ext cx="10637215" cy="457200"/>
          </a:xfrm>
          <a:prstGeom prst="rect">
            <a:avLst/>
          </a:prstGeom>
          <a:noFill/>
        </p:spPr>
        <p:txBody>
          <a:bodyPr wrap="square" anchor="t" lIns="0" rIns="0" tIns="0" bIns="0">
            <a:spAutoFit/>
          </a:bodyPr>
          <a:lstStyle/>
          <a:p>
            <a:pPr algn="l">
              <a:lnSpc>
                <a:spcPct val="112000"/>
              </a:lnSpc>
            </a:pPr>
            <a:r>
              <a:rPr sz="1200" b="0">
                <a:solidFill>
                  <a:srgbClr val="6B776F"/>
                </a:solidFill>
                <a:latin typeface="Arial"/>
              </a:rPr>
              <a:t>Fanuc hücresi {1,2,3,5,9} tek gerçek tahmin edilebilir gruptur. Mitsubishi makineleri zamanın yüzde 53'ünde zaten durur, bu yüzden yüksek recall değeri bilgi taşımaz ve lift yalnızca 1,2 katıdır.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TAHMİN</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Hangi algoritmayı neden seçtik</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07</a:t>
            </a:r>
          </a:p>
        </p:txBody>
      </p:sp>
      <p:sp>
        <p:nvSpPr>
          <p:cNvPr id="8" name="TextBox 7"/>
          <p:cNvSpPr txBox="1"/>
          <p:nvPr/>
        </p:nvSpPr>
        <p:spPr>
          <a:xfrm>
            <a:off x="777240" y="2011680"/>
            <a:ext cx="10637215" cy="457200"/>
          </a:xfrm>
          <a:prstGeom prst="rect">
            <a:avLst/>
          </a:prstGeom>
          <a:noFill/>
        </p:spPr>
        <p:txBody>
          <a:bodyPr wrap="square" anchor="t" lIns="0" rIns="0" tIns="0" bIns="0">
            <a:spAutoFit/>
          </a:bodyPr>
          <a:lstStyle/>
          <a:p>
            <a:pPr algn="l">
              <a:lnSpc>
                <a:spcPct val="112000"/>
              </a:lnSpc>
            </a:pPr>
            <a:r>
              <a:rPr sz="1350" b="0">
                <a:solidFill>
                  <a:srgbClr val="16201C"/>
                </a:solidFill>
                <a:latin typeface="Arial"/>
              </a:rPr>
              <a:t>Aynı held-out gelecekte, aynı öznitelik kümesiyle dört model ailesini ve iki saçma tabanı yarıştırdık. Karşılaştırma birleşik veride yapıldı (taban oran yüzde 25).</a:t>
            </a:r>
          </a:p>
        </p:txBody>
      </p:sp>
      <p:sp>
        <p:nvSpPr>
          <p:cNvPr id="9" name="Rectangle 8"/>
          <p:cNvSpPr/>
          <p:nvPr/>
        </p:nvSpPr>
        <p:spPr>
          <a:xfrm>
            <a:off x="777240" y="2697480"/>
            <a:ext cx="338328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79776"/>
            <a:ext cx="321868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Model ailesi</a:t>
            </a:r>
          </a:p>
        </p:txBody>
      </p:sp>
      <p:sp>
        <p:nvSpPr>
          <p:cNvPr id="11" name="Rectangle 10"/>
          <p:cNvSpPr/>
          <p:nvPr/>
        </p:nvSpPr>
        <p:spPr>
          <a:xfrm>
            <a:off x="4160520" y="2697480"/>
            <a:ext cx="109728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59" y="2779776"/>
            <a:ext cx="93268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ROC</a:t>
            </a:r>
          </a:p>
        </p:txBody>
      </p:sp>
      <p:sp>
        <p:nvSpPr>
          <p:cNvPr id="13" name="Rectangle 12"/>
          <p:cNvSpPr/>
          <p:nvPr/>
        </p:nvSpPr>
        <p:spPr>
          <a:xfrm>
            <a:off x="5257800" y="2697480"/>
            <a:ext cx="109728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2779776"/>
            <a:ext cx="93268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Lift</a:t>
            </a:r>
          </a:p>
        </p:txBody>
      </p:sp>
      <p:sp>
        <p:nvSpPr>
          <p:cNvPr id="15" name="Rectangle 14"/>
          <p:cNvSpPr/>
          <p:nvPr/>
        </p:nvSpPr>
        <p:spPr>
          <a:xfrm>
            <a:off x="6355080" y="2697480"/>
            <a:ext cx="5056632"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779776"/>
            <a:ext cx="4892040"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Not</a:t>
            </a:r>
          </a:p>
        </p:txBody>
      </p:sp>
      <p:sp>
        <p:nvSpPr>
          <p:cNvPr id="17" name="Rectangle 16"/>
          <p:cNvSpPr/>
          <p:nvPr/>
        </p:nvSpPr>
        <p:spPr>
          <a:xfrm>
            <a:off x="777240" y="3081528"/>
            <a:ext cx="338328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72968"/>
            <a:ext cx="3218688" cy="310896"/>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HistGBDT (gradyan artırma)</a:t>
            </a:r>
          </a:p>
        </p:txBody>
      </p:sp>
      <p:sp>
        <p:nvSpPr>
          <p:cNvPr id="19" name="Rectangle 18"/>
          <p:cNvSpPr/>
          <p:nvPr/>
        </p:nvSpPr>
        <p:spPr>
          <a:xfrm>
            <a:off x="4160520" y="3081528"/>
            <a:ext cx="109728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59" y="3172968"/>
            <a:ext cx="932688" cy="310896"/>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0,76</a:t>
            </a:r>
          </a:p>
        </p:txBody>
      </p:sp>
      <p:sp>
        <p:nvSpPr>
          <p:cNvPr id="21" name="Rectangle 20"/>
          <p:cNvSpPr/>
          <p:nvPr/>
        </p:nvSpPr>
        <p:spPr>
          <a:xfrm>
            <a:off x="5257800" y="3081528"/>
            <a:ext cx="1097280"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49240" y="3172968"/>
            <a:ext cx="932688" cy="310896"/>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2,09</a:t>
            </a:r>
          </a:p>
        </p:txBody>
      </p:sp>
      <p:sp>
        <p:nvSpPr>
          <p:cNvPr id="23" name="Rectangle 22"/>
          <p:cNvSpPr/>
          <p:nvPr/>
        </p:nvSpPr>
        <p:spPr>
          <a:xfrm>
            <a:off x="6355080" y="3081528"/>
            <a:ext cx="5056632" cy="402336"/>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172968"/>
            <a:ext cx="4892040" cy="310896"/>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Seçilen aile, eksik değeri yerel işler</a:t>
            </a:r>
          </a:p>
        </p:txBody>
      </p:sp>
      <p:sp>
        <p:nvSpPr>
          <p:cNvPr id="25" name="Rectangle 24"/>
          <p:cNvSpPr/>
          <p:nvPr/>
        </p:nvSpPr>
        <p:spPr>
          <a:xfrm>
            <a:off x="777240" y="3483864"/>
            <a:ext cx="3383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575304"/>
            <a:ext cx="32186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Random Forest</a:t>
            </a:r>
          </a:p>
        </p:txBody>
      </p:sp>
      <p:sp>
        <p:nvSpPr>
          <p:cNvPr id="27" name="Rectangle 26"/>
          <p:cNvSpPr/>
          <p:nvPr/>
        </p:nvSpPr>
        <p:spPr>
          <a:xfrm>
            <a:off x="4160520" y="3483864"/>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51959" y="3575304"/>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0,75</a:t>
            </a:r>
          </a:p>
        </p:txBody>
      </p:sp>
      <p:sp>
        <p:nvSpPr>
          <p:cNvPr id="29" name="Rectangle 28"/>
          <p:cNvSpPr/>
          <p:nvPr/>
        </p:nvSpPr>
        <p:spPr>
          <a:xfrm>
            <a:off x="5257800" y="3483864"/>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49240" y="3575304"/>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2,00</a:t>
            </a:r>
          </a:p>
        </p:txBody>
      </p:sp>
      <p:sp>
        <p:nvSpPr>
          <p:cNvPr id="31" name="Rectangle 30"/>
          <p:cNvSpPr/>
          <p:nvPr/>
        </p:nvSpPr>
        <p:spPr>
          <a:xfrm>
            <a:off x="6355080" y="3483864"/>
            <a:ext cx="505663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3575304"/>
            <a:ext cx="489204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Yakın ikinci</a:t>
            </a:r>
          </a:p>
        </p:txBody>
      </p:sp>
      <p:sp>
        <p:nvSpPr>
          <p:cNvPr id="33" name="Rectangle 32"/>
          <p:cNvSpPr/>
          <p:nvPr/>
        </p:nvSpPr>
        <p:spPr>
          <a:xfrm>
            <a:off x="777240" y="3886200"/>
            <a:ext cx="3383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3977639"/>
            <a:ext cx="32186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Lojistik Regresyon</a:t>
            </a:r>
          </a:p>
        </p:txBody>
      </p:sp>
      <p:sp>
        <p:nvSpPr>
          <p:cNvPr id="35" name="Rectangle 34"/>
          <p:cNvSpPr/>
          <p:nvPr/>
        </p:nvSpPr>
        <p:spPr>
          <a:xfrm>
            <a:off x="4160520" y="3886200"/>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51959" y="3977639"/>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0,74</a:t>
            </a:r>
          </a:p>
        </p:txBody>
      </p:sp>
      <p:sp>
        <p:nvSpPr>
          <p:cNvPr id="37" name="Rectangle 36"/>
          <p:cNvSpPr/>
          <p:nvPr/>
        </p:nvSpPr>
        <p:spPr>
          <a:xfrm>
            <a:off x="5257800" y="3886200"/>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49240" y="3977639"/>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1,98</a:t>
            </a:r>
          </a:p>
        </p:txBody>
      </p:sp>
      <p:sp>
        <p:nvSpPr>
          <p:cNvPr id="39" name="Rectangle 38"/>
          <p:cNvSpPr/>
          <p:nvPr/>
        </p:nvSpPr>
        <p:spPr>
          <a:xfrm>
            <a:off x="6355080" y="3886200"/>
            <a:ext cx="505663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977639"/>
            <a:ext cx="489204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Doğrusal taban</a:t>
            </a:r>
          </a:p>
        </p:txBody>
      </p:sp>
      <p:sp>
        <p:nvSpPr>
          <p:cNvPr id="41" name="Rectangle 40"/>
          <p:cNvSpPr/>
          <p:nvPr/>
        </p:nvSpPr>
        <p:spPr>
          <a:xfrm>
            <a:off x="777240" y="4288536"/>
            <a:ext cx="3383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379976"/>
            <a:ext cx="32186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MLP (sinir ağı, 64-24)</a:t>
            </a:r>
          </a:p>
        </p:txBody>
      </p:sp>
      <p:sp>
        <p:nvSpPr>
          <p:cNvPr id="43" name="Rectangle 42"/>
          <p:cNvSpPr/>
          <p:nvPr/>
        </p:nvSpPr>
        <p:spPr>
          <a:xfrm>
            <a:off x="4160520" y="4288536"/>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51959" y="4379976"/>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0,68</a:t>
            </a:r>
          </a:p>
        </p:txBody>
      </p:sp>
      <p:sp>
        <p:nvSpPr>
          <p:cNvPr id="45" name="Rectangle 44"/>
          <p:cNvSpPr/>
          <p:nvPr/>
        </p:nvSpPr>
        <p:spPr>
          <a:xfrm>
            <a:off x="5257800" y="4288536"/>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49240" y="4379976"/>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1,72</a:t>
            </a:r>
          </a:p>
        </p:txBody>
      </p:sp>
      <p:sp>
        <p:nvSpPr>
          <p:cNvPr id="47" name="Rectangle 46"/>
          <p:cNvSpPr/>
          <p:nvPr/>
        </p:nvSpPr>
        <p:spPr>
          <a:xfrm>
            <a:off x="6355080" y="4288536"/>
            <a:ext cx="505663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4379976"/>
            <a:ext cx="489204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Tablo veride en zayıf öğrenen</a:t>
            </a:r>
          </a:p>
        </p:txBody>
      </p:sp>
      <p:sp>
        <p:nvSpPr>
          <p:cNvPr id="49" name="Rectangle 48"/>
          <p:cNvSpPr/>
          <p:nvPr/>
        </p:nvSpPr>
        <p:spPr>
          <a:xfrm>
            <a:off x="777240" y="4690872"/>
            <a:ext cx="3383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 y="4782312"/>
            <a:ext cx="32186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Unsupervised AD skoru</a:t>
            </a:r>
          </a:p>
        </p:txBody>
      </p:sp>
      <p:sp>
        <p:nvSpPr>
          <p:cNvPr id="51" name="Rectangle 50"/>
          <p:cNvSpPr/>
          <p:nvPr/>
        </p:nvSpPr>
        <p:spPr>
          <a:xfrm>
            <a:off x="4160520" y="4690872"/>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51959" y="4782312"/>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0,51</a:t>
            </a:r>
          </a:p>
        </p:txBody>
      </p:sp>
      <p:sp>
        <p:nvSpPr>
          <p:cNvPr id="53" name="Rectangle 52"/>
          <p:cNvSpPr/>
          <p:nvPr/>
        </p:nvSpPr>
        <p:spPr>
          <a:xfrm>
            <a:off x="5257800" y="4690872"/>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49240" y="4782312"/>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1,07</a:t>
            </a:r>
          </a:p>
        </p:txBody>
      </p:sp>
      <p:sp>
        <p:nvSpPr>
          <p:cNvPr id="55" name="Rectangle 54"/>
          <p:cNvSpPr/>
          <p:nvPr/>
        </p:nvSpPr>
        <p:spPr>
          <a:xfrm>
            <a:off x="6355080" y="4690872"/>
            <a:ext cx="505663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46520" y="4782312"/>
            <a:ext cx="489204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Tahminci olarak tesadüf seviyesi</a:t>
            </a:r>
          </a:p>
        </p:txBody>
      </p:sp>
      <p:sp>
        <p:nvSpPr>
          <p:cNvPr id="57" name="Rectangle 56"/>
          <p:cNvSpPr/>
          <p:nvPr/>
        </p:nvSpPr>
        <p:spPr>
          <a:xfrm>
            <a:off x="777240" y="5093208"/>
            <a:ext cx="3383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8680" y="5184648"/>
            <a:ext cx="3218688"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Her zaman pozitif (taban)</a:t>
            </a:r>
          </a:p>
        </p:txBody>
      </p:sp>
      <p:sp>
        <p:nvSpPr>
          <p:cNvPr id="59" name="Rectangle 58"/>
          <p:cNvSpPr/>
          <p:nvPr/>
        </p:nvSpPr>
        <p:spPr>
          <a:xfrm>
            <a:off x="4160520" y="5093208"/>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251959" y="5184648"/>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0,50</a:t>
            </a:r>
          </a:p>
        </p:txBody>
      </p:sp>
      <p:sp>
        <p:nvSpPr>
          <p:cNvPr id="61" name="Rectangle 60"/>
          <p:cNvSpPr/>
          <p:nvPr/>
        </p:nvSpPr>
        <p:spPr>
          <a:xfrm>
            <a:off x="5257800" y="5093208"/>
            <a:ext cx="1097280"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49240" y="5184648"/>
            <a:ext cx="932688" cy="310896"/>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1,00</a:t>
            </a:r>
          </a:p>
        </p:txBody>
      </p:sp>
      <p:sp>
        <p:nvSpPr>
          <p:cNvPr id="63" name="Rectangle 62"/>
          <p:cNvSpPr/>
          <p:nvPr/>
        </p:nvSpPr>
        <p:spPr>
          <a:xfrm>
            <a:off x="6355080" y="5093208"/>
            <a:ext cx="5056632" cy="402336"/>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46520" y="5184648"/>
            <a:ext cx="4892040" cy="310896"/>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Anlamsız referans</a:t>
            </a:r>
          </a:p>
        </p:txBody>
      </p:sp>
      <p:sp>
        <p:nvSpPr>
          <p:cNvPr id="65" name="Rectangle 64"/>
          <p:cNvSpPr/>
          <p:nvPr/>
        </p:nvSpPr>
        <p:spPr>
          <a:xfrm>
            <a:off x="777240" y="5532120"/>
            <a:ext cx="10637215" cy="502920"/>
          </a:xfrm>
          <a:prstGeom prst="rect">
            <a:avLst/>
          </a:prstGeom>
          <a:solidFill>
            <a:srgbClr val="ECF4EF"/>
          </a:solidFill>
          <a:ln w="1397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78408" y="5623560"/>
            <a:ext cx="10234879"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Neden HistGBDT: en yüksek PR-AUC ve ROC. Eksik değeri kendisi işler, ölçekleme istemez ve doğrusal olmayan eşikleri yakalar. CNN ile transformer yalnızca denetimsiz anomali autoencoder ile denendi, tahmin için avantaj sağlamadı.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TAHMİN</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Modelin ürettiği risk zaman çizgisi</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08</a:t>
            </a:r>
          </a:p>
        </p:txBody>
      </p:sp>
      <p:sp>
        <p:nvSpPr>
          <p:cNvPr id="8" name="TextBox 7"/>
          <p:cNvSpPr txBox="1"/>
          <p:nvPr/>
        </p:nvSpPr>
        <p:spPr>
          <a:xfrm>
            <a:off x="777240" y="2011680"/>
            <a:ext cx="10637215" cy="457200"/>
          </a:xfrm>
          <a:prstGeom prst="rect">
            <a:avLst/>
          </a:prstGeom>
          <a:noFill/>
        </p:spPr>
        <p:txBody>
          <a:bodyPr wrap="square" anchor="t" lIns="0" rIns="0" tIns="0" bIns="0">
            <a:spAutoFit/>
          </a:bodyPr>
          <a:lstStyle/>
          <a:p>
            <a:pPr algn="l">
              <a:lnSpc>
                <a:spcPct val="112000"/>
              </a:lnSpc>
            </a:pPr>
            <a:r>
              <a:rPr sz="1350" b="0">
                <a:solidFill>
                  <a:srgbClr val="16201C"/>
                </a:solidFill>
                <a:latin typeface="Arial"/>
              </a:rPr>
              <a:t>Aşağıdaki eğri, Makine 1 için modelin held-out dönemde ürettiği duruş riskidir. Bu, hiçbir müdahale yapılmadığında beklenen riski gösterir.</a:t>
            </a:r>
          </a:p>
        </p:txBody>
      </p:sp>
      <p:sp>
        <p:nvSpPr>
          <p:cNvPr id="9" name="Rectangle 8"/>
          <p:cNvSpPr/>
          <p:nvPr/>
        </p:nvSpPr>
        <p:spPr>
          <a:xfrm>
            <a:off x="777240" y="2651760"/>
            <a:ext cx="10637215" cy="214884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216152" y="4453128"/>
            <a:ext cx="9942271" cy="0"/>
          </a:xfrm>
          <a:prstGeom prst="line">
            <a:avLst/>
          </a:prstGeom>
          <a:ln w="5080">
            <a:solidFill>
              <a:srgbClr val="D9DFD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50392" y="4361688"/>
            <a:ext cx="320040" cy="182880"/>
          </a:xfrm>
          <a:prstGeom prst="rect">
            <a:avLst/>
          </a:prstGeom>
          <a:noFill/>
        </p:spPr>
        <p:txBody>
          <a:bodyPr wrap="square" anchor="t" lIns="0" rIns="0" tIns="0" bIns="0">
            <a:spAutoFit/>
          </a:bodyPr>
          <a:lstStyle/>
          <a:p>
            <a:pPr algn="r">
              <a:lnSpc>
                <a:spcPct val="112000"/>
              </a:lnSpc>
            </a:pPr>
            <a:r>
              <a:rPr sz="800" b="0">
                <a:solidFill>
                  <a:srgbClr val="6B776F"/>
                </a:solidFill>
                <a:latin typeface="Arial"/>
              </a:rPr>
              <a:t>0,0</a:t>
            </a:r>
          </a:p>
        </p:txBody>
      </p:sp>
      <p:cxnSp>
        <p:nvCxnSpPr>
          <p:cNvPr id="12" name="Connector 11"/>
          <p:cNvCxnSpPr/>
          <p:nvPr/>
        </p:nvCxnSpPr>
        <p:spPr>
          <a:xfrm>
            <a:off x="1216152" y="3634740"/>
            <a:ext cx="9942271" cy="0"/>
          </a:xfrm>
          <a:prstGeom prst="line">
            <a:avLst/>
          </a:prstGeom>
          <a:ln w="5080">
            <a:solidFill>
              <a:srgbClr val="D9DFD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50392" y="3543300"/>
            <a:ext cx="320040" cy="182880"/>
          </a:xfrm>
          <a:prstGeom prst="rect">
            <a:avLst/>
          </a:prstGeom>
          <a:noFill/>
        </p:spPr>
        <p:txBody>
          <a:bodyPr wrap="square" anchor="t" lIns="0" rIns="0" tIns="0" bIns="0">
            <a:spAutoFit/>
          </a:bodyPr>
          <a:lstStyle/>
          <a:p>
            <a:pPr algn="r">
              <a:lnSpc>
                <a:spcPct val="112000"/>
              </a:lnSpc>
            </a:pPr>
            <a:r>
              <a:rPr sz="800" b="0">
                <a:solidFill>
                  <a:srgbClr val="6B776F"/>
                </a:solidFill>
                <a:latin typeface="Arial"/>
              </a:rPr>
              <a:t>0,5</a:t>
            </a:r>
          </a:p>
        </p:txBody>
      </p:sp>
      <p:cxnSp>
        <p:nvCxnSpPr>
          <p:cNvPr id="14" name="Connector 13"/>
          <p:cNvCxnSpPr/>
          <p:nvPr/>
        </p:nvCxnSpPr>
        <p:spPr>
          <a:xfrm>
            <a:off x="1216152" y="2816352"/>
            <a:ext cx="9942271" cy="0"/>
          </a:xfrm>
          <a:prstGeom prst="line">
            <a:avLst/>
          </a:prstGeom>
          <a:ln w="5080">
            <a:solidFill>
              <a:srgbClr val="D9DFD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0392" y="2724912"/>
            <a:ext cx="320040" cy="182880"/>
          </a:xfrm>
          <a:prstGeom prst="rect">
            <a:avLst/>
          </a:prstGeom>
          <a:noFill/>
        </p:spPr>
        <p:txBody>
          <a:bodyPr wrap="square" anchor="t" lIns="0" rIns="0" tIns="0" bIns="0">
            <a:spAutoFit/>
          </a:bodyPr>
          <a:lstStyle/>
          <a:p>
            <a:pPr algn="r">
              <a:lnSpc>
                <a:spcPct val="112000"/>
              </a:lnSpc>
            </a:pPr>
            <a:r>
              <a:rPr sz="800" b="0">
                <a:solidFill>
                  <a:srgbClr val="6B776F"/>
                </a:solidFill>
                <a:latin typeface="Arial"/>
              </a:rPr>
              <a:t>1,0</a:t>
            </a:r>
          </a:p>
        </p:txBody>
      </p:sp>
      <p:cxnSp>
        <p:nvCxnSpPr>
          <p:cNvPr id="16" name="Connector 15"/>
          <p:cNvCxnSpPr/>
          <p:nvPr/>
        </p:nvCxnSpPr>
        <p:spPr>
          <a:xfrm>
            <a:off x="1216152" y="4162109"/>
            <a:ext cx="9942271" cy="0"/>
          </a:xfrm>
          <a:prstGeom prst="line">
            <a:avLst/>
          </a:prstGeom>
          <a:ln w="11430">
            <a:solidFill>
              <a:srgbClr val="C43D3D"/>
            </a:solidFill>
            <a:prstDash val="sys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244023" y="3997517"/>
            <a:ext cx="914400" cy="182880"/>
          </a:xfrm>
          <a:prstGeom prst="rect">
            <a:avLst/>
          </a:prstGeom>
          <a:noFill/>
        </p:spPr>
        <p:txBody>
          <a:bodyPr wrap="square" anchor="t" lIns="0" rIns="0" tIns="0" bIns="0">
            <a:spAutoFit/>
          </a:bodyPr>
          <a:lstStyle/>
          <a:p>
            <a:pPr algn="r">
              <a:lnSpc>
                <a:spcPct val="112000"/>
              </a:lnSpc>
            </a:pPr>
            <a:r>
              <a:rPr sz="800" b="0">
                <a:solidFill>
                  <a:srgbClr val="C43D3D"/>
                </a:solidFill>
                <a:latin typeface="Arial"/>
              </a:rPr>
              <a:t>alarm eşiği</a:t>
            </a:r>
          </a:p>
        </p:txBody>
      </p:sp>
      <p:cxnSp>
        <p:nvCxnSpPr>
          <p:cNvPr id="18" name="Connector 17"/>
          <p:cNvCxnSpPr/>
          <p:nvPr/>
        </p:nvCxnSpPr>
        <p:spPr>
          <a:xfrm flipV="1">
            <a:off x="1216152" y="4001377"/>
            <a:ext cx="49464" cy="1800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65616" y="4001377"/>
            <a:ext cx="49464" cy="1636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15080" y="4017745"/>
            <a:ext cx="49464" cy="12930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364544" y="4119225"/>
            <a:ext cx="49464" cy="2782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14008" y="4119225"/>
            <a:ext cx="49464" cy="11130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463472" y="4181423"/>
            <a:ext cx="49464" cy="491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512936" y="4012835"/>
            <a:ext cx="49464" cy="16858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562400" y="4012835"/>
            <a:ext cx="49464" cy="10802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11864" y="4120862"/>
            <a:ext cx="49464" cy="4746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661328" y="4168328"/>
            <a:ext cx="49464" cy="491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710792" y="4014472"/>
            <a:ext cx="49464" cy="15876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60256" y="3932633"/>
            <a:ext cx="49464" cy="8183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809720" y="3932633"/>
            <a:ext cx="49464" cy="4582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859184" y="3978462"/>
            <a:ext cx="49464" cy="15058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908648" y="4129046"/>
            <a:ext cx="49464" cy="12439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958112" y="4138867"/>
            <a:ext cx="49464" cy="11457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007576" y="4138867"/>
            <a:ext cx="49464" cy="491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057040" y="4114315"/>
            <a:ext cx="49464" cy="7365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106504" y="4114315"/>
            <a:ext cx="49464" cy="16367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155968" y="4001377"/>
            <a:ext cx="49464" cy="27661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205432" y="4001377"/>
            <a:ext cx="49464" cy="16204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254896" y="4163418"/>
            <a:ext cx="49464" cy="4255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304360" y="4205974"/>
            <a:ext cx="49464" cy="6710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353824" y="4174876"/>
            <a:ext cx="49464" cy="9820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403288" y="4174876"/>
            <a:ext cx="49464" cy="5892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2452752" y="4039023"/>
            <a:ext cx="49464" cy="19477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502216" y="4021019"/>
            <a:ext cx="49464" cy="1800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551680" y="4021019"/>
            <a:ext cx="49465" cy="13585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601145" y="4047207"/>
            <a:ext cx="49464" cy="1096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650609" y="4047207"/>
            <a:ext cx="49464" cy="1309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00073" y="4060301"/>
            <a:ext cx="49464" cy="20459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749537" y="4160145"/>
            <a:ext cx="49464" cy="10475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799001" y="4160145"/>
            <a:ext cx="49464" cy="2618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848465" y="4186333"/>
            <a:ext cx="49464" cy="12275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897929" y="4309091"/>
            <a:ext cx="49464" cy="491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947393" y="4173239"/>
            <a:ext cx="49464" cy="14076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996857" y="4173239"/>
            <a:ext cx="49464" cy="3600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046321" y="3755861"/>
            <a:ext cx="49464" cy="45338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095785" y="3755861"/>
            <a:ext cx="49464" cy="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145249" y="3755861"/>
            <a:ext cx="49464" cy="12112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194713" y="3876982"/>
            <a:ext cx="49464" cy="22914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244177" y="4106131"/>
            <a:ext cx="49464" cy="818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293641" y="4114315"/>
            <a:ext cx="49464" cy="17677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343105" y="4017745"/>
            <a:ext cx="49464" cy="27334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92569" y="4017745"/>
            <a:ext cx="49464" cy="19641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442033" y="4057028"/>
            <a:ext cx="49464" cy="15713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491497" y="4057028"/>
            <a:ext cx="49464" cy="1915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3540961" y="4227252"/>
            <a:ext cx="49464" cy="2127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3590425" y="4165055"/>
            <a:ext cx="49464" cy="6219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639889" y="4081579"/>
            <a:ext cx="49464" cy="8347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689353" y="3178079"/>
            <a:ext cx="49464" cy="90350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38817" y="3178079"/>
            <a:ext cx="49464" cy="99843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3788281" y="4129046"/>
            <a:ext cx="49464" cy="4746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837745" y="3127339"/>
            <a:ext cx="49464" cy="10017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887209" y="3127339"/>
            <a:ext cx="49464" cy="114738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3936673" y="4151961"/>
            <a:ext cx="49465" cy="12275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3986138" y="4048844"/>
            <a:ext cx="49464" cy="10311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035602" y="3189536"/>
            <a:ext cx="49464" cy="85930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085066" y="3189536"/>
            <a:ext cx="49464" cy="109336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134530" y="4282903"/>
            <a:ext cx="49464" cy="818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183994" y="4112678"/>
            <a:ext cx="49464" cy="17840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233458" y="3097877"/>
            <a:ext cx="49464" cy="101480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282922" y="3097877"/>
            <a:ext cx="49464" cy="11555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332386" y="4129046"/>
            <a:ext cx="49464" cy="12439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4381850" y="4016108"/>
            <a:ext cx="49464" cy="11293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4431314" y="3140433"/>
            <a:ext cx="49464" cy="87567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480778" y="3140433"/>
            <a:ext cx="49464" cy="108845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4530242" y="3983373"/>
            <a:ext cx="49464" cy="24551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579706" y="3791870"/>
            <a:ext cx="49464" cy="1915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629170" y="3127339"/>
            <a:ext cx="49464" cy="66453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678634" y="3127339"/>
            <a:ext cx="49464" cy="114738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4728098" y="4205974"/>
            <a:ext cx="49464" cy="6874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4777562" y="4205974"/>
            <a:ext cx="49464" cy="6874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4827026" y="3127339"/>
            <a:ext cx="49464" cy="114738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876490" y="3127339"/>
            <a:ext cx="49464" cy="107699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4925954" y="4187970"/>
            <a:ext cx="49464" cy="1636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975418" y="4187970"/>
            <a:ext cx="49464" cy="11130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024882" y="3071689"/>
            <a:ext cx="49464" cy="122758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074346" y="3071689"/>
            <a:ext cx="49464" cy="117193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123810" y="4243620"/>
            <a:ext cx="49464" cy="7856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173274" y="4317275"/>
            <a:ext cx="49464" cy="491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222738" y="3112608"/>
            <a:ext cx="49464" cy="120466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272202" y="3112608"/>
            <a:ext cx="49464" cy="104426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321666" y="4047207"/>
            <a:ext cx="49465" cy="1096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371131" y="3896624"/>
            <a:ext cx="49464" cy="15058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420595" y="3104424"/>
            <a:ext cx="49464" cy="79220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470059" y="3104424"/>
            <a:ext cx="49464" cy="104426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519523" y="3849157"/>
            <a:ext cx="49464" cy="29953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568987" y="3849157"/>
            <a:ext cx="49464" cy="23569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618451" y="3115882"/>
            <a:ext cx="49464" cy="96897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667915" y="3115882"/>
            <a:ext cx="49464" cy="115883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717379" y="4065212"/>
            <a:ext cx="49464" cy="2095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766843" y="4042297"/>
            <a:ext cx="49464" cy="2291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816307" y="3156801"/>
            <a:ext cx="49464" cy="88549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865771" y="3156801"/>
            <a:ext cx="49464" cy="113755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5915235" y="4228889"/>
            <a:ext cx="49464" cy="6547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5964699" y="3876982"/>
            <a:ext cx="49464" cy="3519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014163" y="3197720"/>
            <a:ext cx="49464" cy="67926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063627" y="3197720"/>
            <a:ext cx="49464" cy="105572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113091" y="4176512"/>
            <a:ext cx="49464" cy="7692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162555" y="4065212"/>
            <a:ext cx="49464" cy="11130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212019" y="3078236"/>
            <a:ext cx="49464" cy="98697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261483" y="3078236"/>
            <a:ext cx="49464" cy="109664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310947" y="3754224"/>
            <a:ext cx="49464" cy="42065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360411" y="3182989"/>
            <a:ext cx="49464" cy="57123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6409875" y="3182989"/>
            <a:ext cx="49464" cy="10950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6459339" y="3885166"/>
            <a:ext cx="49464" cy="39282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6508803" y="3885166"/>
            <a:ext cx="49464" cy="1473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558267" y="3083146"/>
            <a:ext cx="49464" cy="81675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6607731" y="3083146"/>
            <a:ext cx="49464" cy="100007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6657195" y="4027566"/>
            <a:ext cx="49464" cy="5565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6706659" y="4021019"/>
            <a:ext cx="49465" cy="654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6756124" y="3255007"/>
            <a:ext cx="49464" cy="76601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6805588" y="3255007"/>
            <a:ext cx="49464" cy="71527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6855052" y="3970279"/>
            <a:ext cx="49464" cy="24060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6904516" y="4210885"/>
            <a:ext cx="49464" cy="5565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6953980" y="3160074"/>
            <a:ext cx="49464" cy="110646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7003444" y="3160074"/>
            <a:ext cx="49464" cy="69890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7052908" y="3858978"/>
            <a:ext cx="49464" cy="9165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7102372" y="3950637"/>
            <a:ext cx="49464" cy="22096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7151836" y="3276286"/>
            <a:ext cx="49464" cy="89531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201300" y="3276286"/>
            <a:ext cx="49464" cy="101480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7250764" y="4264898"/>
            <a:ext cx="49464" cy="2618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7300228" y="4035750"/>
            <a:ext cx="49464" cy="22914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7349692" y="3461241"/>
            <a:ext cx="49464" cy="57450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7399156" y="3461241"/>
            <a:ext cx="49464" cy="79711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7448620" y="4258351"/>
            <a:ext cx="49464" cy="3764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7498084" y="4068485"/>
            <a:ext cx="49464" cy="22751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7547548" y="3376129"/>
            <a:ext cx="49464" cy="69235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7597012" y="3376129"/>
            <a:ext cx="49464" cy="77255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7646476" y="4148687"/>
            <a:ext cx="49464" cy="7856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7695940" y="4227252"/>
            <a:ext cx="49464" cy="3437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7745404" y="3173169"/>
            <a:ext cx="49464" cy="108845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794868" y="3173169"/>
            <a:ext cx="49464" cy="95096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7844332" y="4055391"/>
            <a:ext cx="49464" cy="6874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7893796" y="3911355"/>
            <a:ext cx="49464" cy="14403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7943260" y="3587273"/>
            <a:ext cx="49464" cy="32408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7992724" y="3587273"/>
            <a:ext cx="49464" cy="46811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042188" y="4055391"/>
            <a:ext cx="49464" cy="1309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8091652" y="3947364"/>
            <a:ext cx="49465" cy="12112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8141117" y="3178079"/>
            <a:ext cx="49464" cy="76928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190581" y="3178079"/>
            <a:ext cx="49464" cy="112282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8240045" y="4251804"/>
            <a:ext cx="49464" cy="4910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289509" y="4251804"/>
            <a:ext cx="49464" cy="5074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8338973" y="3125702"/>
            <a:ext cx="49464" cy="117684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8388437" y="3125702"/>
            <a:ext cx="49464" cy="116047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8437901" y="4268172"/>
            <a:ext cx="49464" cy="1800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8487365" y="4183059"/>
            <a:ext cx="49464" cy="8511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8536829" y="3173169"/>
            <a:ext cx="49464" cy="100989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8586293" y="3173169"/>
            <a:ext cx="49464" cy="10131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8635757" y="4012835"/>
            <a:ext cx="49464" cy="17349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8685221" y="4012835"/>
            <a:ext cx="49464" cy="15385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8734685" y="3259918"/>
            <a:ext cx="49464" cy="90677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8784149" y="3259918"/>
            <a:ext cx="49464" cy="97715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8833613" y="4155234"/>
            <a:ext cx="49464" cy="8183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8883077" y="4155234"/>
            <a:ext cx="49464" cy="16204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8932541" y="3304111"/>
            <a:ext cx="49464" cy="10131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8982005" y="3304111"/>
            <a:ext cx="49464" cy="86912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9031469" y="4006288"/>
            <a:ext cx="49464" cy="16695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9080933" y="4006288"/>
            <a:ext cx="49464" cy="6056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9130397" y="3220635"/>
            <a:ext cx="49464" cy="84621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9179861" y="3220635"/>
            <a:ext cx="49464" cy="101316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9229325" y="4233800"/>
            <a:ext cx="49464" cy="5074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9278789" y="4282903"/>
            <a:ext cx="49464" cy="163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9328253" y="3348304"/>
            <a:ext cx="49464" cy="93459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9377717" y="3348304"/>
            <a:ext cx="49464" cy="96569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427181" y="4314002"/>
            <a:ext cx="49464" cy="327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9476645" y="4161781"/>
            <a:ext cx="49465" cy="15549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9526110" y="3852431"/>
            <a:ext cx="49464" cy="30935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9575574" y="3852431"/>
            <a:ext cx="49464" cy="12930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9625038" y="3981736"/>
            <a:ext cx="49464" cy="29298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9674502" y="4241983"/>
            <a:ext cx="49464" cy="3273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9723966" y="3417048"/>
            <a:ext cx="49464" cy="82493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9773430" y="3417048"/>
            <a:ext cx="49464" cy="90513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9822894" y="4101221"/>
            <a:ext cx="49464" cy="2209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9872358" y="4101221"/>
            <a:ext cx="49464" cy="14731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9921822" y="3253371"/>
            <a:ext cx="49464" cy="99516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9971286" y="3253371"/>
            <a:ext cx="49464" cy="95424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0020750" y="4207611"/>
            <a:ext cx="49464" cy="72018"/>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10070214" y="3927722"/>
            <a:ext cx="49464" cy="3519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10119678" y="3182989"/>
            <a:ext cx="49464" cy="744733"/>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169142" y="3182989"/>
            <a:ext cx="49464" cy="105899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10218606" y="4174876"/>
            <a:ext cx="49464" cy="671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10268070" y="4102857"/>
            <a:ext cx="49464" cy="7201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10317534" y="2996397"/>
            <a:ext cx="49464" cy="110646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0366998" y="2996397"/>
            <a:ext cx="49464" cy="86258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0416462" y="3858978"/>
            <a:ext cx="49464" cy="18986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10465926" y="4035750"/>
            <a:ext cx="49464" cy="1309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10515390" y="3197720"/>
            <a:ext cx="49464" cy="83803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0564854" y="3197720"/>
            <a:ext cx="49464" cy="1000070"/>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10614318" y="4183059"/>
            <a:ext cx="49464" cy="1473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0663782" y="4183059"/>
            <a:ext cx="49464" cy="29462"/>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10713246" y="3351577"/>
            <a:ext cx="49464" cy="86094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0762710" y="3351577"/>
            <a:ext cx="49464" cy="748007"/>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10812174" y="4099584"/>
            <a:ext cx="49464" cy="144036"/>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10861638" y="4223979"/>
            <a:ext cx="49465" cy="1964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10911103" y="3259918"/>
            <a:ext cx="49464" cy="964061"/>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0960567" y="3259918"/>
            <a:ext cx="49464" cy="89367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11010031" y="3973552"/>
            <a:ext cx="49464" cy="180045"/>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1059495" y="3610188"/>
            <a:ext cx="49464" cy="363364"/>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1108959" y="3610188"/>
            <a:ext cx="49464" cy="441929"/>
          </a:xfrm>
          <a:prstGeom prst="line">
            <a:avLst/>
          </a:prstGeom>
          <a:ln w="12700">
            <a:solidFill>
              <a:srgbClr val="0F7A52"/>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777240" y="4983480"/>
            <a:ext cx="10637215" cy="1142999"/>
          </a:xfrm>
          <a:prstGeom prst="rect">
            <a:avLst/>
          </a:prstGeom>
          <a:noFill/>
        </p:spPr>
        <p:txBody>
          <a:bodyPr wrap="square" lIns="0" tIns="0">
            <a:spAutoFit/>
          </a:bodyPr>
          <a:lstStyle/>
          <a:p>
            <a:pPr>
              <a:lnSpc>
                <a:spcPct val="110000"/>
              </a:lnSpc>
              <a:spcAft>
                <a:spcPts val="600"/>
              </a:spcAft>
            </a:pPr>
            <a:r>
              <a:rPr sz="1200" b="1">
                <a:solidFill>
                  <a:srgbClr val="0F7A52"/>
                </a:solidFill>
                <a:latin typeface="Arial"/>
              </a:rPr>
              <a:t>•  </a:t>
            </a:r>
            <a:r>
              <a:rPr sz="1200">
                <a:solidFill>
                  <a:srgbClr val="16201C"/>
                </a:solidFill>
                <a:latin typeface="Arial"/>
              </a:rPr>
              <a:t>Yeşil eğri modelin tahmin ettiği duruş riskidir, 0 ile 1 arasında değişir.</a:t>
            </a:r>
          </a:p>
          <a:p>
            <a:pPr>
              <a:lnSpc>
                <a:spcPct val="110000"/>
              </a:lnSpc>
              <a:spcAft>
                <a:spcPts val="600"/>
              </a:spcAft>
            </a:pPr>
            <a:r>
              <a:rPr sz="1200" b="1">
                <a:solidFill>
                  <a:srgbClr val="0F7A52"/>
                </a:solidFill>
                <a:latin typeface="Arial"/>
              </a:rPr>
              <a:t>•  </a:t>
            </a:r>
            <a:r>
              <a:rPr sz="1200">
                <a:solidFill>
                  <a:srgbClr val="16201C"/>
                </a:solidFill>
                <a:latin typeface="Arial"/>
              </a:rPr>
              <a:t>Kırmızı kesikli çizgi alarm eşiğidir. Risk bu çizgiyi aştığında bir uyarı üretilir.</a:t>
            </a:r>
          </a:p>
          <a:p>
            <a:pPr>
              <a:lnSpc>
                <a:spcPct val="110000"/>
              </a:lnSpc>
              <a:spcAft>
                <a:spcPts val="600"/>
              </a:spcAft>
            </a:pPr>
            <a:r>
              <a:rPr sz="1200" b="1">
                <a:solidFill>
                  <a:srgbClr val="0F7A52"/>
                </a:solidFill>
                <a:latin typeface="Arial"/>
              </a:rPr>
              <a:t>•  </a:t>
            </a:r>
            <a:r>
              <a:rPr sz="1200">
                <a:solidFill>
                  <a:srgbClr val="16201C"/>
                </a:solidFill>
                <a:latin typeface="Arial"/>
              </a:rPr>
              <a:t>Dönemin başında risk düşük ve düzdür. İlerleyen haftalarda risk sık sık eşiğin üzerine çıkar; model bu noktalarda yaklaşan duruşları işaretler.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OEE KAZANIMI</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Tahmin OEE kazanımına nasıl bağlanıyor</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09</a:t>
            </a:r>
          </a:p>
        </p:txBody>
      </p:sp>
      <p:sp>
        <p:nvSpPr>
          <p:cNvPr id="8" name="TextBox 7"/>
          <p:cNvSpPr txBox="1"/>
          <p:nvPr/>
        </p:nvSpPr>
        <p:spPr>
          <a:xfrm>
            <a:off x="777240" y="2011680"/>
            <a:ext cx="10637215" cy="274320"/>
          </a:xfrm>
          <a:prstGeom prst="rect">
            <a:avLst/>
          </a:prstGeom>
          <a:noFill/>
        </p:spPr>
        <p:txBody>
          <a:bodyPr wrap="square" anchor="t" lIns="0" rIns="0" tIns="0" bIns="0">
            <a:spAutoFit/>
          </a:bodyPr>
          <a:lstStyle/>
          <a:p>
            <a:pPr algn="l">
              <a:lnSpc>
                <a:spcPct val="112000"/>
              </a:lnSpc>
            </a:pPr>
            <a:r>
              <a:rPr sz="1400" b="0">
                <a:solidFill>
                  <a:srgbClr val="16201C"/>
                </a:solidFill>
                <a:latin typeface="Arial"/>
              </a:rPr>
              <a:t>Tahminin OEE değeriyle bağı, ölçülmüş üç gerçeğe dayanır.</a:t>
            </a:r>
          </a:p>
        </p:txBody>
      </p:sp>
      <p:sp>
        <p:nvSpPr>
          <p:cNvPr id="9" name="Rectangle 8"/>
          <p:cNvSpPr/>
          <p:nvPr/>
        </p:nvSpPr>
        <p:spPr>
          <a:xfrm>
            <a:off x="777240" y="2606040"/>
            <a:ext cx="3301898"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1</a:t>
            </a:r>
          </a:p>
        </p:txBody>
      </p:sp>
      <p:sp>
        <p:nvSpPr>
          <p:cNvPr id="11" name="TextBox 10"/>
          <p:cNvSpPr txBox="1"/>
          <p:nvPr/>
        </p:nvSpPr>
        <p:spPr>
          <a:xfrm>
            <a:off x="923544" y="3017520"/>
            <a:ext cx="3027578"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%69 recall</a:t>
            </a:r>
          </a:p>
        </p:txBody>
      </p:sp>
      <p:sp>
        <p:nvSpPr>
          <p:cNvPr id="12" name="TextBox 11"/>
          <p:cNvSpPr txBox="1"/>
          <p:nvPr/>
        </p:nvSpPr>
        <p:spPr>
          <a:xfrm>
            <a:off x="923544" y="3474720"/>
            <a:ext cx="3027578"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önemli duruşların yakalanan oranı</a:t>
            </a:r>
          </a:p>
        </p:txBody>
      </p:sp>
      <p:sp>
        <p:nvSpPr>
          <p:cNvPr id="13" name="Rectangle 12"/>
          <p:cNvSpPr/>
          <p:nvPr/>
        </p:nvSpPr>
        <p:spPr>
          <a:xfrm>
            <a:off x="4444898" y="2606040"/>
            <a:ext cx="3301898" cy="132588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1202" y="2715768"/>
            <a:ext cx="457200" cy="274320"/>
          </a:xfrm>
          <a:prstGeom prst="rect">
            <a:avLst/>
          </a:prstGeom>
          <a:noFill/>
        </p:spPr>
        <p:txBody>
          <a:bodyPr wrap="square" anchor="t" lIns="0" rIns="0" tIns="0" bIns="0">
            <a:spAutoFit/>
          </a:bodyPr>
          <a:lstStyle/>
          <a:p>
            <a:pPr algn="l">
              <a:lnSpc>
                <a:spcPct val="112000"/>
              </a:lnSpc>
            </a:pPr>
            <a:r>
              <a:rPr sz="1200" b="1">
                <a:solidFill>
                  <a:srgbClr val="6B776F"/>
                </a:solidFill>
                <a:latin typeface="Arial"/>
              </a:rPr>
              <a:t>2</a:t>
            </a:r>
          </a:p>
        </p:txBody>
      </p:sp>
      <p:sp>
        <p:nvSpPr>
          <p:cNvPr id="15" name="TextBox 14"/>
          <p:cNvSpPr txBox="1"/>
          <p:nvPr/>
        </p:nvSpPr>
        <p:spPr>
          <a:xfrm>
            <a:off x="4591202" y="3017520"/>
            <a:ext cx="3027578" cy="457200"/>
          </a:xfrm>
          <a:prstGeom prst="rect">
            <a:avLst/>
          </a:prstGeom>
          <a:noFill/>
        </p:spPr>
        <p:txBody>
          <a:bodyPr wrap="square" anchor="t" lIns="0" rIns="0" tIns="0" bIns="0">
            <a:spAutoFit/>
          </a:bodyPr>
          <a:lstStyle/>
          <a:p>
            <a:pPr algn="l">
              <a:lnSpc>
                <a:spcPct val="112000"/>
              </a:lnSpc>
            </a:pPr>
            <a:r>
              <a:rPr sz="1300" b="1">
                <a:solidFill>
                  <a:srgbClr val="16201C"/>
                </a:solidFill>
                <a:latin typeface="Arial"/>
              </a:rPr>
              <a:t>2062 saat</a:t>
            </a:r>
          </a:p>
        </p:txBody>
      </p:sp>
      <p:sp>
        <p:nvSpPr>
          <p:cNvPr id="16" name="TextBox 15"/>
          <p:cNvSpPr txBox="1"/>
          <p:nvPr/>
        </p:nvSpPr>
        <p:spPr>
          <a:xfrm>
            <a:off x="4591202" y="3474720"/>
            <a:ext cx="3027578"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yakalanan duruşların toplam süresi</a:t>
            </a:r>
          </a:p>
        </p:txBody>
      </p:sp>
      <p:sp>
        <p:nvSpPr>
          <p:cNvPr id="17" name="Rectangle 16"/>
          <p:cNvSpPr/>
          <p:nvPr/>
        </p:nvSpPr>
        <p:spPr>
          <a:xfrm>
            <a:off x="8112556" y="2606040"/>
            <a:ext cx="3301898" cy="1325880"/>
          </a:xfrm>
          <a:prstGeom prst="rect">
            <a:avLst/>
          </a:prstGeom>
          <a:solidFill>
            <a:srgbClr val="ECF4EF"/>
          </a:solidFill>
          <a:ln w="1905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8860" y="2715768"/>
            <a:ext cx="457200" cy="274320"/>
          </a:xfrm>
          <a:prstGeom prst="rect">
            <a:avLst/>
          </a:prstGeom>
          <a:noFill/>
        </p:spPr>
        <p:txBody>
          <a:bodyPr wrap="square" anchor="t" lIns="0" rIns="0" tIns="0" bIns="0">
            <a:spAutoFit/>
          </a:bodyPr>
          <a:lstStyle/>
          <a:p>
            <a:pPr algn="l">
              <a:lnSpc>
                <a:spcPct val="112000"/>
              </a:lnSpc>
            </a:pPr>
            <a:r>
              <a:rPr sz="1200" b="1">
                <a:solidFill>
                  <a:srgbClr val="0F7A52"/>
                </a:solidFill>
                <a:latin typeface="Arial"/>
              </a:rPr>
              <a:t>3</a:t>
            </a:r>
          </a:p>
        </p:txBody>
      </p:sp>
      <p:sp>
        <p:nvSpPr>
          <p:cNvPr id="19" name="TextBox 18"/>
          <p:cNvSpPr txBox="1"/>
          <p:nvPr/>
        </p:nvSpPr>
        <p:spPr>
          <a:xfrm>
            <a:off x="8258860" y="3017520"/>
            <a:ext cx="3027578" cy="457200"/>
          </a:xfrm>
          <a:prstGeom prst="rect">
            <a:avLst/>
          </a:prstGeom>
          <a:noFill/>
        </p:spPr>
        <p:txBody>
          <a:bodyPr wrap="square" anchor="t" lIns="0" rIns="0" tIns="0" bIns="0">
            <a:spAutoFit/>
          </a:bodyPr>
          <a:lstStyle/>
          <a:p>
            <a:pPr algn="l">
              <a:lnSpc>
                <a:spcPct val="112000"/>
              </a:lnSpc>
            </a:pPr>
            <a:r>
              <a:rPr sz="1300" b="1">
                <a:solidFill>
                  <a:srgbClr val="0F7A52"/>
                </a:solidFill>
                <a:latin typeface="Arial"/>
              </a:rPr>
              <a:t>Önceden işaretlenir</a:t>
            </a:r>
          </a:p>
        </p:txBody>
      </p:sp>
      <p:sp>
        <p:nvSpPr>
          <p:cNvPr id="20" name="TextBox 19"/>
          <p:cNvSpPr txBox="1"/>
          <p:nvPr/>
        </p:nvSpPr>
        <p:spPr>
          <a:xfrm>
            <a:off x="8258860" y="3474720"/>
            <a:ext cx="3027578" cy="411480"/>
          </a:xfrm>
          <a:prstGeom prst="rect">
            <a:avLst/>
          </a:prstGeom>
          <a:noFill/>
        </p:spPr>
        <p:txBody>
          <a:bodyPr wrap="square" anchor="t" lIns="0" rIns="0" tIns="0" bIns="0">
            <a:spAutoFit/>
          </a:bodyPr>
          <a:lstStyle/>
          <a:p>
            <a:pPr algn="l">
              <a:lnSpc>
                <a:spcPct val="112000"/>
              </a:lnSpc>
            </a:pPr>
            <a:r>
              <a:rPr sz="950" b="0">
                <a:solidFill>
                  <a:srgbClr val="6B776F"/>
                </a:solidFill>
                <a:latin typeface="Arial"/>
              </a:rPr>
              <a:t>körlemesine değil, önceden bilinerek ele alınır</a:t>
            </a:r>
          </a:p>
        </p:txBody>
      </p:sp>
      <p:sp>
        <p:nvSpPr>
          <p:cNvPr id="21" name="TextBox 20"/>
          <p:cNvSpPr txBox="1"/>
          <p:nvPr/>
        </p:nvSpPr>
        <p:spPr>
          <a:xfrm>
            <a:off x="777240" y="4343400"/>
            <a:ext cx="10637215" cy="1783080"/>
          </a:xfrm>
          <a:prstGeom prst="rect">
            <a:avLst/>
          </a:prstGeom>
          <a:noFill/>
        </p:spPr>
        <p:txBody>
          <a:bodyPr wrap="square" lIns="0" tIns="0">
            <a:spAutoFit/>
          </a:bodyPr>
          <a:lstStyle/>
          <a:p>
            <a:pPr>
              <a:lnSpc>
                <a:spcPct val="110000"/>
              </a:lnSpc>
              <a:spcAft>
                <a:spcPts val="800"/>
              </a:spcAft>
            </a:pPr>
            <a:r>
              <a:rPr sz="1350" b="1">
                <a:solidFill>
                  <a:srgbClr val="0F7A52"/>
                </a:solidFill>
                <a:latin typeface="Arial"/>
              </a:rPr>
              <a:t>•  </a:t>
            </a:r>
            <a:r>
              <a:rPr sz="1350">
                <a:solidFill>
                  <a:srgbClr val="16201C"/>
                </a:solidFill>
                <a:latin typeface="Arial"/>
              </a:rPr>
              <a:t>Model held-out dönemde önemli duruşların yüzde 69'unu yakaladı. Bu duruşların içindeki toplam duruş süresi 2062 saattir; bu, Fanuc hücresinin tüm plansız duruş süresinin yaklaşık yüzde 75'idir.</a:t>
            </a:r>
          </a:p>
          <a:p>
            <a:pPr>
              <a:lnSpc>
                <a:spcPct val="110000"/>
              </a:lnSpc>
              <a:spcAft>
                <a:spcPts val="800"/>
              </a:spcAft>
            </a:pPr>
            <a:r>
              <a:rPr sz="1350" b="1">
                <a:solidFill>
                  <a:srgbClr val="0F7A52"/>
                </a:solidFill>
                <a:latin typeface="Arial"/>
              </a:rPr>
              <a:t>•  </a:t>
            </a:r>
            <a:r>
              <a:rPr sz="1350">
                <a:solidFill>
                  <a:srgbClr val="16201C"/>
                </a:solidFill>
                <a:latin typeface="Arial"/>
              </a:rPr>
              <a:t>Yakalanan duruşlar artık körlemesine yaşanmaz, önceden bilinir. Böylece duruş süresi ele alınabilir bir hedefe dönüşür.</a:t>
            </a:r>
          </a:p>
          <a:p>
            <a:pPr>
              <a:lnSpc>
                <a:spcPct val="110000"/>
              </a:lnSpc>
              <a:spcAft>
                <a:spcPts val="800"/>
              </a:spcAft>
            </a:pPr>
            <a:r>
              <a:rPr sz="1350" b="1">
                <a:solidFill>
                  <a:srgbClr val="0F7A52"/>
                </a:solidFill>
                <a:latin typeface="Arial"/>
              </a:rPr>
              <a:t>•  </a:t>
            </a:r>
            <a:r>
              <a:rPr sz="1350">
                <a:solidFill>
                  <a:srgbClr val="16201C"/>
                </a:solidFill>
                <a:latin typeface="Arial"/>
              </a:rPr>
              <a:t>Bu sürenin azaltılmasının OEE etkisi What-If senaryolarında somutlaşır. En büyük plansız duruş kalemini yüzde 30 azaltmak Makine 1'de OEE'yi 18, Makine 5'te 15 puan yükseltir.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ÖRÜNTÜ</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Makineler arası örüntü, senkron duruşlar</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10</a:t>
            </a:r>
          </a:p>
        </p:txBody>
      </p:sp>
      <p:sp>
        <p:nvSpPr>
          <p:cNvPr id="8" name="TextBox 7"/>
          <p:cNvSpPr txBox="1"/>
          <p:nvPr/>
        </p:nvSpPr>
        <p:spPr>
          <a:xfrm>
            <a:off x="777240" y="2011680"/>
            <a:ext cx="10637215" cy="457200"/>
          </a:xfrm>
          <a:prstGeom prst="rect">
            <a:avLst/>
          </a:prstGeom>
          <a:noFill/>
        </p:spPr>
        <p:txBody>
          <a:bodyPr wrap="square" anchor="t" lIns="0" rIns="0" tIns="0" bIns="0">
            <a:spAutoFit/>
          </a:bodyPr>
          <a:lstStyle/>
          <a:p>
            <a:pPr algn="l">
              <a:lnSpc>
                <a:spcPct val="112000"/>
              </a:lnSpc>
            </a:pPr>
            <a:r>
              <a:rPr sz="1400" b="0">
                <a:solidFill>
                  <a:srgbClr val="16201C"/>
                </a:solidFill>
                <a:latin typeface="Arial"/>
              </a:rPr>
              <a:t>Soru şu: iki veya daha fazla makine aynı saatte plansız durduğunda, bu durum şansın ve ortak vardiya programının ötesinde bir bağ mıdır?</a:t>
            </a:r>
          </a:p>
        </p:txBody>
      </p:sp>
      <p:sp>
        <p:nvSpPr>
          <p:cNvPr id="9" name="TextBox 8"/>
          <p:cNvSpPr txBox="1"/>
          <p:nvPr/>
        </p:nvSpPr>
        <p:spPr>
          <a:xfrm>
            <a:off x="777240" y="2788920"/>
            <a:ext cx="2743200" cy="274320"/>
          </a:xfrm>
          <a:prstGeom prst="rect">
            <a:avLst/>
          </a:prstGeom>
          <a:noFill/>
        </p:spPr>
        <p:txBody>
          <a:bodyPr wrap="square" anchor="t" lIns="0" rIns="0" tIns="0" bIns="0">
            <a:spAutoFit/>
          </a:bodyPr>
          <a:lstStyle/>
          <a:p>
            <a:pPr algn="l">
              <a:lnSpc>
                <a:spcPct val="112000"/>
              </a:lnSpc>
            </a:pPr>
            <a:r>
              <a:rPr sz="1200" b="1">
                <a:solidFill>
                  <a:srgbClr val="16201C"/>
                </a:solidFill>
                <a:latin typeface="Arial"/>
              </a:rPr>
              <a:t>Gözlemlenen</a:t>
            </a:r>
          </a:p>
        </p:txBody>
      </p:sp>
      <p:sp>
        <p:nvSpPr>
          <p:cNvPr id="10" name="Rectangle 9"/>
          <p:cNvSpPr/>
          <p:nvPr/>
        </p:nvSpPr>
        <p:spPr>
          <a:xfrm>
            <a:off x="3566160" y="2788920"/>
            <a:ext cx="4599913" cy="347472"/>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3233" y="2816351"/>
            <a:ext cx="1097280" cy="274320"/>
          </a:xfrm>
          <a:prstGeom prst="rect">
            <a:avLst/>
          </a:prstGeom>
          <a:noFill/>
        </p:spPr>
        <p:txBody>
          <a:bodyPr wrap="square" anchor="t" lIns="0" rIns="0" tIns="0" bIns="0">
            <a:spAutoFit/>
          </a:bodyPr>
          <a:lstStyle/>
          <a:p>
            <a:pPr algn="l">
              <a:lnSpc>
                <a:spcPct val="112000"/>
              </a:lnSpc>
            </a:pPr>
            <a:r>
              <a:rPr sz="1150" b="1">
                <a:solidFill>
                  <a:srgbClr val="16201C"/>
                </a:solidFill>
                <a:latin typeface="Arial"/>
              </a:rPr>
              <a:t>708 saat</a:t>
            </a:r>
          </a:p>
        </p:txBody>
      </p:sp>
      <p:sp>
        <p:nvSpPr>
          <p:cNvPr id="12" name="TextBox 11"/>
          <p:cNvSpPr txBox="1"/>
          <p:nvPr/>
        </p:nvSpPr>
        <p:spPr>
          <a:xfrm>
            <a:off x="9263353" y="2825496"/>
            <a:ext cx="2669566" cy="274320"/>
          </a:xfrm>
          <a:prstGeom prst="rect">
            <a:avLst/>
          </a:prstGeom>
          <a:noFill/>
        </p:spPr>
        <p:txBody>
          <a:bodyPr wrap="square" anchor="t" lIns="0" rIns="0" tIns="0" bIns="0">
            <a:spAutoFit/>
          </a:bodyPr>
          <a:lstStyle/>
          <a:p>
            <a:pPr algn="l">
              <a:lnSpc>
                <a:spcPct val="112000"/>
              </a:lnSpc>
            </a:pPr>
            <a:r>
              <a:rPr sz="1000" b="0">
                <a:solidFill>
                  <a:srgbClr val="6B776F"/>
                </a:solidFill>
                <a:latin typeface="Arial"/>
              </a:rPr>
              <a:t>gerçekte yaşanan eş zamanlı duruş</a:t>
            </a:r>
          </a:p>
        </p:txBody>
      </p:sp>
      <p:sp>
        <p:nvSpPr>
          <p:cNvPr id="13" name="TextBox 12"/>
          <p:cNvSpPr txBox="1"/>
          <p:nvPr/>
        </p:nvSpPr>
        <p:spPr>
          <a:xfrm>
            <a:off x="777240" y="3355848"/>
            <a:ext cx="2743200" cy="274320"/>
          </a:xfrm>
          <a:prstGeom prst="rect">
            <a:avLst/>
          </a:prstGeom>
          <a:noFill/>
        </p:spPr>
        <p:txBody>
          <a:bodyPr wrap="square" anchor="t" lIns="0" rIns="0" tIns="0" bIns="0">
            <a:spAutoFit/>
          </a:bodyPr>
          <a:lstStyle/>
          <a:p>
            <a:pPr algn="l">
              <a:lnSpc>
                <a:spcPct val="112000"/>
              </a:lnSpc>
            </a:pPr>
            <a:r>
              <a:rPr sz="1200" b="0">
                <a:solidFill>
                  <a:srgbClr val="16201C"/>
                </a:solidFill>
                <a:latin typeface="Arial"/>
              </a:rPr>
              <a:t>Beklenen, vardiya ritmi</a:t>
            </a:r>
          </a:p>
        </p:txBody>
      </p:sp>
      <p:sp>
        <p:nvSpPr>
          <p:cNvPr id="14" name="Rectangle 13"/>
          <p:cNvSpPr/>
          <p:nvPr/>
        </p:nvSpPr>
        <p:spPr>
          <a:xfrm>
            <a:off x="3566160" y="3355848"/>
            <a:ext cx="3664337" cy="347472"/>
          </a:xfrm>
          <a:prstGeom prst="rect">
            <a:avLst/>
          </a:prstGeom>
          <a:solidFill>
            <a:srgbClr val="E0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7657" y="3383279"/>
            <a:ext cx="1097280" cy="274320"/>
          </a:xfrm>
          <a:prstGeom prst="rect">
            <a:avLst/>
          </a:prstGeom>
          <a:noFill/>
        </p:spPr>
        <p:txBody>
          <a:bodyPr wrap="square" anchor="t" lIns="0" rIns="0" tIns="0" bIns="0">
            <a:spAutoFit/>
          </a:bodyPr>
          <a:lstStyle/>
          <a:p>
            <a:pPr algn="l">
              <a:lnSpc>
                <a:spcPct val="112000"/>
              </a:lnSpc>
            </a:pPr>
            <a:r>
              <a:rPr sz="1150" b="1">
                <a:solidFill>
                  <a:srgbClr val="16201C"/>
                </a:solidFill>
                <a:latin typeface="Arial"/>
              </a:rPr>
              <a:t>564 saat</a:t>
            </a:r>
          </a:p>
        </p:txBody>
      </p:sp>
      <p:sp>
        <p:nvSpPr>
          <p:cNvPr id="16" name="TextBox 15"/>
          <p:cNvSpPr txBox="1"/>
          <p:nvPr/>
        </p:nvSpPr>
        <p:spPr>
          <a:xfrm>
            <a:off x="8327777" y="3392424"/>
            <a:ext cx="3605142" cy="274320"/>
          </a:xfrm>
          <a:prstGeom prst="rect">
            <a:avLst/>
          </a:prstGeom>
          <a:noFill/>
        </p:spPr>
        <p:txBody>
          <a:bodyPr wrap="square" anchor="t" lIns="0" rIns="0" tIns="0" bIns="0">
            <a:spAutoFit/>
          </a:bodyPr>
          <a:lstStyle/>
          <a:p>
            <a:pPr algn="l">
              <a:lnSpc>
                <a:spcPct val="112000"/>
              </a:lnSpc>
            </a:pPr>
            <a:r>
              <a:rPr sz="1000" b="0">
                <a:solidFill>
                  <a:srgbClr val="6B776F"/>
                </a:solidFill>
                <a:latin typeface="Arial"/>
              </a:rPr>
              <a:t>yalnız ortak saat düzeni açıklasaydı</a:t>
            </a:r>
          </a:p>
        </p:txBody>
      </p:sp>
      <p:sp>
        <p:nvSpPr>
          <p:cNvPr id="17" name="TextBox 16"/>
          <p:cNvSpPr txBox="1"/>
          <p:nvPr/>
        </p:nvSpPr>
        <p:spPr>
          <a:xfrm>
            <a:off x="777240" y="3922776"/>
            <a:ext cx="2743200" cy="274320"/>
          </a:xfrm>
          <a:prstGeom prst="rect">
            <a:avLst/>
          </a:prstGeom>
          <a:noFill/>
        </p:spPr>
        <p:txBody>
          <a:bodyPr wrap="square" anchor="t" lIns="0" rIns="0" tIns="0" bIns="0">
            <a:spAutoFit/>
          </a:bodyPr>
          <a:lstStyle/>
          <a:p>
            <a:pPr algn="l">
              <a:lnSpc>
                <a:spcPct val="112000"/>
              </a:lnSpc>
            </a:pPr>
            <a:r>
              <a:rPr sz="1200" b="0">
                <a:solidFill>
                  <a:srgbClr val="16201C"/>
                </a:solidFill>
                <a:latin typeface="Arial"/>
              </a:rPr>
              <a:t>Beklenen, rastgele</a:t>
            </a:r>
          </a:p>
        </p:txBody>
      </p:sp>
      <p:sp>
        <p:nvSpPr>
          <p:cNvPr id="18" name="Rectangle 17"/>
          <p:cNvSpPr/>
          <p:nvPr/>
        </p:nvSpPr>
        <p:spPr>
          <a:xfrm>
            <a:off x="3566160" y="3922776"/>
            <a:ext cx="2163518" cy="347472"/>
          </a:xfrm>
          <a:prstGeom prst="rect">
            <a:avLst/>
          </a:prstGeom>
          <a:solidFill>
            <a:srgbClr val="9AA8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66838" y="3950208"/>
            <a:ext cx="1097280" cy="274320"/>
          </a:xfrm>
          <a:prstGeom prst="rect">
            <a:avLst/>
          </a:prstGeom>
          <a:noFill/>
        </p:spPr>
        <p:txBody>
          <a:bodyPr wrap="square" anchor="t" lIns="0" rIns="0" tIns="0" bIns="0">
            <a:spAutoFit/>
          </a:bodyPr>
          <a:lstStyle/>
          <a:p>
            <a:pPr algn="l">
              <a:lnSpc>
                <a:spcPct val="112000"/>
              </a:lnSpc>
            </a:pPr>
            <a:r>
              <a:rPr sz="1150" b="1">
                <a:solidFill>
                  <a:srgbClr val="16201C"/>
                </a:solidFill>
                <a:latin typeface="Arial"/>
              </a:rPr>
              <a:t>333 saat</a:t>
            </a:r>
          </a:p>
        </p:txBody>
      </p:sp>
      <p:sp>
        <p:nvSpPr>
          <p:cNvPr id="20" name="TextBox 19"/>
          <p:cNvSpPr txBox="1"/>
          <p:nvPr/>
        </p:nvSpPr>
        <p:spPr>
          <a:xfrm>
            <a:off x="6826958" y="3959352"/>
            <a:ext cx="5105961" cy="274320"/>
          </a:xfrm>
          <a:prstGeom prst="rect">
            <a:avLst/>
          </a:prstGeom>
          <a:noFill/>
        </p:spPr>
        <p:txBody>
          <a:bodyPr wrap="square" anchor="t" lIns="0" rIns="0" tIns="0" bIns="0">
            <a:spAutoFit/>
          </a:bodyPr>
          <a:lstStyle/>
          <a:p>
            <a:pPr algn="l">
              <a:lnSpc>
                <a:spcPct val="112000"/>
              </a:lnSpc>
            </a:pPr>
            <a:r>
              <a:rPr sz="1000" b="0">
                <a:solidFill>
                  <a:srgbClr val="6B776F"/>
                </a:solidFill>
                <a:latin typeface="Arial"/>
              </a:rPr>
              <a:t>tamamen tesadüf olsaydı</a:t>
            </a:r>
          </a:p>
        </p:txBody>
      </p:sp>
      <p:sp>
        <p:nvSpPr>
          <p:cNvPr id="21" name="TextBox 20"/>
          <p:cNvSpPr txBox="1"/>
          <p:nvPr/>
        </p:nvSpPr>
        <p:spPr>
          <a:xfrm>
            <a:off x="777240" y="4572000"/>
            <a:ext cx="10637215" cy="365760"/>
          </a:xfrm>
          <a:prstGeom prst="rect">
            <a:avLst/>
          </a:prstGeom>
          <a:noFill/>
        </p:spPr>
        <p:txBody>
          <a:bodyPr wrap="square" anchor="t" lIns="0" rIns="0" tIns="0" bIns="0">
            <a:spAutoFit/>
          </a:bodyPr>
          <a:lstStyle/>
          <a:p>
            <a:pPr algn="l">
              <a:lnSpc>
                <a:spcPct val="112000"/>
              </a:lnSpc>
            </a:pPr>
            <a:r>
              <a:rPr sz="1350" b="0">
                <a:solidFill>
                  <a:srgbClr val="16201C"/>
                </a:solidFill>
                <a:latin typeface="Arial"/>
              </a:rPr>
              <a:t>İstatistik sonucu: z eşittir 5,16, p küçüktür 0,001. Senkronizasyon ortak vardiya programıyla açıklanamıyor.</a:t>
            </a:r>
          </a:p>
        </p:txBody>
      </p:sp>
      <p:sp>
        <p:nvSpPr>
          <p:cNvPr id="22" name="Rectangle 21"/>
          <p:cNvSpPr/>
          <p:nvPr/>
        </p:nvSpPr>
        <p:spPr>
          <a:xfrm>
            <a:off x="777240" y="5029200"/>
            <a:ext cx="10637215" cy="868680"/>
          </a:xfrm>
          <a:prstGeom prst="rect">
            <a:avLst/>
          </a:prstGeom>
          <a:solidFill>
            <a:srgbClr val="ECF4EF"/>
          </a:solidFill>
          <a:ln w="15240">
            <a:solidFill>
              <a:srgbClr val="0F7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5138928"/>
            <a:ext cx="10234879" cy="731520"/>
          </a:xfrm>
          <a:prstGeom prst="rect">
            <a:avLst/>
          </a:prstGeom>
          <a:noFill/>
        </p:spPr>
        <p:txBody>
          <a:bodyPr wrap="square" anchor="t" lIns="0" rIns="0" tIns="0" bIns="0">
            <a:spAutoFit/>
          </a:bodyPr>
          <a:lstStyle/>
          <a:p>
            <a:pPr algn="l">
              <a:lnSpc>
                <a:spcPct val="112000"/>
              </a:lnSpc>
            </a:pPr>
            <a:r>
              <a:rPr sz="1100" b="0">
                <a:solidFill>
                  <a:srgbClr val="16201C"/>
                </a:solidFill>
                <a:latin typeface="Arial"/>
              </a:rPr>
              <a:t>İçgörü: 708 saatlik eş zamanlı duruşun 564 saati ortak vardiya ile açıklanır. Geri kalan yaklaşık 144 saat vardiyayla açıklanamayan gerçek bir bağdır. Bu, duruşların bir bölümünün makineye özel değil sistemik olduğunu gösterir. Ortak bir kök nedeni (örneğin paylaşılan besleme veya altyapı) düzeltmek, aynı anda birden çok makinenin OEE değerini yükseltebilir.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SENARYOLAR</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What-If senaryoları, fiziksel kazanım</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11</a:t>
            </a:r>
          </a:p>
        </p:txBody>
      </p:sp>
      <p:sp>
        <p:nvSpPr>
          <p:cNvPr id="8" name="TextBox 7"/>
          <p:cNvSpPr txBox="1"/>
          <p:nvPr/>
        </p:nvSpPr>
        <p:spPr>
          <a:xfrm>
            <a:off x="777240" y="2011680"/>
            <a:ext cx="10637215" cy="457200"/>
          </a:xfrm>
          <a:prstGeom prst="rect">
            <a:avLst/>
          </a:prstGeom>
          <a:noFill/>
        </p:spPr>
        <p:txBody>
          <a:bodyPr wrap="square" anchor="t" lIns="0" rIns="0" tIns="0" bIns="0">
            <a:spAutoFit/>
          </a:bodyPr>
          <a:lstStyle/>
          <a:p>
            <a:pPr algn="l">
              <a:lnSpc>
                <a:spcPct val="112000"/>
              </a:lnSpc>
            </a:pPr>
            <a:r>
              <a:rPr sz="1350" b="0">
                <a:solidFill>
                  <a:srgbClr val="16201C"/>
                </a:solidFill>
                <a:latin typeface="Arial"/>
              </a:rPr>
              <a:t>Her senaryo ham OEE bileşenlerinden aynı formülle yeniden hesaplanır. Değerler fiziksel kazanımdır; para birimi içermez.</a:t>
            </a:r>
          </a:p>
        </p:txBody>
      </p:sp>
      <p:sp>
        <p:nvSpPr>
          <p:cNvPr id="9" name="Rectangle 8"/>
          <p:cNvSpPr/>
          <p:nvPr/>
        </p:nvSpPr>
        <p:spPr>
          <a:xfrm>
            <a:off x="777240" y="2542032"/>
            <a:ext cx="512064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7"/>
            <a:ext cx="495604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Senaryo</a:t>
            </a:r>
          </a:p>
        </p:txBody>
      </p:sp>
      <p:sp>
        <p:nvSpPr>
          <p:cNvPr id="11" name="Rectangle 10"/>
          <p:cNvSpPr/>
          <p:nvPr/>
        </p:nvSpPr>
        <p:spPr>
          <a:xfrm>
            <a:off x="5897879" y="2542032"/>
            <a:ext cx="146304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89319" y="2624327"/>
            <a:ext cx="129844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Kaldıraç</a:t>
            </a:r>
          </a:p>
        </p:txBody>
      </p:sp>
      <p:sp>
        <p:nvSpPr>
          <p:cNvPr id="13" name="Rectangle 12"/>
          <p:cNvSpPr/>
          <p:nvPr/>
        </p:nvSpPr>
        <p:spPr>
          <a:xfrm>
            <a:off x="7360919" y="2542032"/>
            <a:ext cx="1188720"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52359" y="2624327"/>
            <a:ext cx="1024128"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ΔOEE</a:t>
            </a:r>
          </a:p>
        </p:txBody>
      </p:sp>
      <p:sp>
        <p:nvSpPr>
          <p:cNvPr id="15" name="Rectangle 14"/>
          <p:cNvSpPr/>
          <p:nvPr/>
        </p:nvSpPr>
        <p:spPr>
          <a:xfrm>
            <a:off x="8549640" y="2542032"/>
            <a:ext cx="1947672" cy="384048"/>
          </a:xfrm>
          <a:prstGeom prst="rect">
            <a:avLst/>
          </a:prstGeom>
          <a:solidFill>
            <a:srgbClr val="16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2624327"/>
            <a:ext cx="1783080" cy="274320"/>
          </a:xfrm>
          <a:prstGeom prst="rect">
            <a:avLst/>
          </a:prstGeom>
          <a:noFill/>
        </p:spPr>
        <p:txBody>
          <a:bodyPr wrap="square" anchor="t" lIns="0" rIns="0" tIns="0" bIns="0">
            <a:spAutoFit/>
          </a:bodyPr>
          <a:lstStyle/>
          <a:p>
            <a:pPr algn="l">
              <a:lnSpc>
                <a:spcPct val="112000"/>
              </a:lnSpc>
            </a:pPr>
            <a:r>
              <a:rPr sz="1050" b="1">
                <a:solidFill>
                  <a:srgbClr val="FFFFFF"/>
                </a:solidFill>
                <a:latin typeface="Arial"/>
              </a:rPr>
              <a:t>Kazanılan süre</a:t>
            </a:r>
          </a:p>
        </p:txBody>
      </p:sp>
      <p:sp>
        <p:nvSpPr>
          <p:cNvPr id="17" name="Rectangle 16"/>
          <p:cNvSpPr/>
          <p:nvPr/>
        </p:nvSpPr>
        <p:spPr>
          <a:xfrm>
            <a:off x="777240" y="2926079"/>
            <a:ext cx="5120640" cy="457200"/>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17520"/>
            <a:ext cx="4956048" cy="365760"/>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S1 · Makine 1 · en büyük plansız kalem -%30</a:t>
            </a:r>
          </a:p>
        </p:txBody>
      </p:sp>
      <p:sp>
        <p:nvSpPr>
          <p:cNvPr id="19" name="Rectangle 18"/>
          <p:cNvSpPr/>
          <p:nvPr/>
        </p:nvSpPr>
        <p:spPr>
          <a:xfrm>
            <a:off x="5897879" y="2926079"/>
            <a:ext cx="1463040" cy="457200"/>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19" y="3017520"/>
            <a:ext cx="1298448" cy="365760"/>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Kullanılabilirlik</a:t>
            </a:r>
          </a:p>
        </p:txBody>
      </p:sp>
      <p:sp>
        <p:nvSpPr>
          <p:cNvPr id="21" name="Rectangle 20"/>
          <p:cNvSpPr/>
          <p:nvPr/>
        </p:nvSpPr>
        <p:spPr>
          <a:xfrm>
            <a:off x="7360919" y="2926079"/>
            <a:ext cx="1188720" cy="457200"/>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59" y="3017520"/>
            <a:ext cx="1024128" cy="365760"/>
          </a:xfrm>
          <a:prstGeom prst="rect">
            <a:avLst/>
          </a:prstGeom>
          <a:noFill/>
        </p:spPr>
        <p:txBody>
          <a:bodyPr wrap="square" anchor="t" lIns="0" rIns="0" tIns="0" bIns="0">
            <a:spAutoFit/>
          </a:bodyPr>
          <a:lstStyle/>
          <a:p>
            <a:pPr algn="ctr">
              <a:lnSpc>
                <a:spcPct val="112000"/>
              </a:lnSpc>
            </a:pPr>
            <a:r>
              <a:rPr sz="1000" b="1">
                <a:solidFill>
                  <a:srgbClr val="0F7A52"/>
                </a:solidFill>
                <a:latin typeface="Arial"/>
              </a:rPr>
              <a:t>+18,0 pp</a:t>
            </a:r>
          </a:p>
        </p:txBody>
      </p:sp>
      <p:sp>
        <p:nvSpPr>
          <p:cNvPr id="23" name="Rectangle 22"/>
          <p:cNvSpPr/>
          <p:nvPr/>
        </p:nvSpPr>
        <p:spPr>
          <a:xfrm>
            <a:off x="8549640" y="2926079"/>
            <a:ext cx="1947672" cy="457200"/>
          </a:xfrm>
          <a:prstGeom prst="rect">
            <a:avLst/>
          </a:prstGeom>
          <a:solidFill>
            <a:srgbClr val="ECF4E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41080" y="3017520"/>
            <a:ext cx="1783080" cy="365760"/>
          </a:xfrm>
          <a:prstGeom prst="rect">
            <a:avLst/>
          </a:prstGeom>
          <a:noFill/>
        </p:spPr>
        <p:txBody>
          <a:bodyPr wrap="square" anchor="t" lIns="0" rIns="0" tIns="0" bIns="0">
            <a:spAutoFit/>
          </a:bodyPr>
          <a:lstStyle/>
          <a:p>
            <a:pPr algn="l">
              <a:lnSpc>
                <a:spcPct val="112000"/>
              </a:lnSpc>
            </a:pPr>
            <a:r>
              <a:rPr sz="1000" b="1">
                <a:solidFill>
                  <a:srgbClr val="0F7A52"/>
                </a:solidFill>
                <a:latin typeface="Arial"/>
              </a:rPr>
              <a:t>625 saat çalışma</a:t>
            </a:r>
          </a:p>
        </p:txBody>
      </p:sp>
      <p:sp>
        <p:nvSpPr>
          <p:cNvPr id="25" name="Rectangle 24"/>
          <p:cNvSpPr/>
          <p:nvPr/>
        </p:nvSpPr>
        <p:spPr>
          <a:xfrm>
            <a:off x="777240" y="3383279"/>
            <a:ext cx="51206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474720"/>
            <a:ext cx="49560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S2 · Makine 5 · en büyük plansız kalem -%30</a:t>
            </a:r>
          </a:p>
        </p:txBody>
      </p:sp>
      <p:sp>
        <p:nvSpPr>
          <p:cNvPr id="27" name="Rectangle 26"/>
          <p:cNvSpPr/>
          <p:nvPr/>
        </p:nvSpPr>
        <p:spPr>
          <a:xfrm>
            <a:off x="5897879" y="3383279"/>
            <a:ext cx="14630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19" y="3474720"/>
            <a:ext cx="12984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Kullanılabilirlik</a:t>
            </a:r>
          </a:p>
        </p:txBody>
      </p:sp>
      <p:sp>
        <p:nvSpPr>
          <p:cNvPr id="29" name="Rectangle 28"/>
          <p:cNvSpPr/>
          <p:nvPr/>
        </p:nvSpPr>
        <p:spPr>
          <a:xfrm>
            <a:off x="7360919" y="3383279"/>
            <a:ext cx="118872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59" y="3474720"/>
            <a:ext cx="1024128" cy="365760"/>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+15,3 pp</a:t>
            </a:r>
          </a:p>
        </p:txBody>
      </p:sp>
      <p:sp>
        <p:nvSpPr>
          <p:cNvPr id="31" name="Rectangle 30"/>
          <p:cNvSpPr/>
          <p:nvPr/>
        </p:nvSpPr>
        <p:spPr>
          <a:xfrm>
            <a:off x="8549640" y="3383279"/>
            <a:ext cx="1947672"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1080" y="3474720"/>
            <a:ext cx="1783080"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420 saat çalışma</a:t>
            </a:r>
          </a:p>
        </p:txBody>
      </p:sp>
      <p:sp>
        <p:nvSpPr>
          <p:cNvPr id="33" name="Rectangle 32"/>
          <p:cNvSpPr/>
          <p:nvPr/>
        </p:nvSpPr>
        <p:spPr>
          <a:xfrm>
            <a:off x="777240" y="3840479"/>
            <a:ext cx="51206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3931919"/>
            <a:ext cx="49560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S3 · Makine 3 · çevrim süresi +%10</a:t>
            </a:r>
          </a:p>
        </p:txBody>
      </p:sp>
      <p:sp>
        <p:nvSpPr>
          <p:cNvPr id="35" name="Rectangle 34"/>
          <p:cNvSpPr/>
          <p:nvPr/>
        </p:nvSpPr>
        <p:spPr>
          <a:xfrm>
            <a:off x="5897879" y="3840479"/>
            <a:ext cx="14630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9319" y="3931919"/>
            <a:ext cx="12984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Performans</a:t>
            </a:r>
          </a:p>
        </p:txBody>
      </p:sp>
      <p:sp>
        <p:nvSpPr>
          <p:cNvPr id="37" name="Rectangle 36"/>
          <p:cNvSpPr/>
          <p:nvPr/>
        </p:nvSpPr>
        <p:spPr>
          <a:xfrm>
            <a:off x="7360919" y="3840479"/>
            <a:ext cx="118872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52359" y="3931919"/>
            <a:ext cx="1024128" cy="365760"/>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0,0 pp</a:t>
            </a:r>
          </a:p>
        </p:txBody>
      </p:sp>
      <p:sp>
        <p:nvSpPr>
          <p:cNvPr id="39" name="Rectangle 38"/>
          <p:cNvSpPr/>
          <p:nvPr/>
        </p:nvSpPr>
        <p:spPr>
          <a:xfrm>
            <a:off x="8549640" y="3840479"/>
            <a:ext cx="1947672"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1080" y="3931919"/>
            <a:ext cx="1783080"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veri P kolunu desteklemiyor</a:t>
            </a:r>
          </a:p>
        </p:txBody>
      </p:sp>
      <p:sp>
        <p:nvSpPr>
          <p:cNvPr id="41" name="Rectangle 40"/>
          <p:cNvSpPr/>
          <p:nvPr/>
        </p:nvSpPr>
        <p:spPr>
          <a:xfrm>
            <a:off x="777240" y="4297679"/>
            <a:ext cx="51206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389119"/>
            <a:ext cx="49560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S4 · Tesis · bağlantı kesintisi giderilir</a:t>
            </a:r>
          </a:p>
        </p:txBody>
      </p:sp>
      <p:sp>
        <p:nvSpPr>
          <p:cNvPr id="43" name="Rectangle 42"/>
          <p:cNvSpPr/>
          <p:nvPr/>
        </p:nvSpPr>
        <p:spPr>
          <a:xfrm>
            <a:off x="5897879" y="4297679"/>
            <a:ext cx="146304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89319" y="4389119"/>
            <a:ext cx="1298448"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Bağlantı / IT</a:t>
            </a:r>
          </a:p>
        </p:txBody>
      </p:sp>
      <p:sp>
        <p:nvSpPr>
          <p:cNvPr id="45" name="Rectangle 44"/>
          <p:cNvSpPr/>
          <p:nvPr/>
        </p:nvSpPr>
        <p:spPr>
          <a:xfrm>
            <a:off x="7360919" y="4297679"/>
            <a:ext cx="1188720"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52359" y="4389119"/>
            <a:ext cx="1024128" cy="365760"/>
          </a:xfrm>
          <a:prstGeom prst="rect">
            <a:avLst/>
          </a:prstGeom>
          <a:noFill/>
        </p:spPr>
        <p:txBody>
          <a:bodyPr wrap="square" anchor="t" lIns="0" rIns="0" tIns="0" bIns="0">
            <a:spAutoFit/>
          </a:bodyPr>
          <a:lstStyle/>
          <a:p>
            <a:pPr algn="ctr">
              <a:lnSpc>
                <a:spcPct val="112000"/>
              </a:lnSpc>
            </a:pPr>
            <a:r>
              <a:rPr sz="1000" b="0">
                <a:solidFill>
                  <a:srgbClr val="16201C"/>
                </a:solidFill>
                <a:latin typeface="Arial"/>
              </a:rPr>
              <a:t>makine dışı</a:t>
            </a:r>
          </a:p>
        </p:txBody>
      </p:sp>
      <p:sp>
        <p:nvSpPr>
          <p:cNvPr id="47" name="Rectangle 46"/>
          <p:cNvSpPr/>
          <p:nvPr/>
        </p:nvSpPr>
        <p:spPr>
          <a:xfrm>
            <a:off x="8549640" y="4297679"/>
            <a:ext cx="1947672" cy="457200"/>
          </a:xfrm>
          <a:prstGeom prst="rect">
            <a:avLst/>
          </a:prstGeom>
          <a:solidFill>
            <a:srgbClr val="FFFFFF"/>
          </a:solidFill>
          <a:ln w="762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1080" y="4389119"/>
            <a:ext cx="1783080" cy="365760"/>
          </a:xfrm>
          <a:prstGeom prst="rect">
            <a:avLst/>
          </a:prstGeom>
          <a:noFill/>
        </p:spPr>
        <p:txBody>
          <a:bodyPr wrap="square" anchor="t" lIns="0" rIns="0" tIns="0" bIns="0">
            <a:spAutoFit/>
          </a:bodyPr>
          <a:lstStyle/>
          <a:p>
            <a:pPr algn="l">
              <a:lnSpc>
                <a:spcPct val="112000"/>
              </a:lnSpc>
            </a:pPr>
            <a:r>
              <a:rPr sz="1000" b="0">
                <a:solidFill>
                  <a:srgbClr val="16201C"/>
                </a:solidFill>
                <a:latin typeface="Arial"/>
              </a:rPr>
              <a:t>663 saat bağlantı</a:t>
            </a:r>
          </a:p>
        </p:txBody>
      </p:sp>
      <p:sp>
        <p:nvSpPr>
          <p:cNvPr id="49" name="TextBox 48"/>
          <p:cNvSpPr txBox="1"/>
          <p:nvPr/>
        </p:nvSpPr>
        <p:spPr>
          <a:xfrm>
            <a:off x="777240" y="4983480"/>
            <a:ext cx="10637215" cy="1142999"/>
          </a:xfrm>
          <a:prstGeom prst="rect">
            <a:avLst/>
          </a:prstGeom>
          <a:noFill/>
        </p:spPr>
        <p:txBody>
          <a:bodyPr wrap="square" lIns="0" tIns="0">
            <a:spAutoFit/>
          </a:bodyPr>
          <a:lstStyle/>
          <a:p>
            <a:pPr>
              <a:lnSpc>
                <a:spcPct val="110000"/>
              </a:lnSpc>
              <a:spcAft>
                <a:spcPts val="500"/>
              </a:spcAft>
            </a:pPr>
            <a:r>
              <a:rPr sz="1050" b="1">
                <a:solidFill>
                  <a:srgbClr val="0F7A52"/>
                </a:solidFill>
                <a:latin typeface="Arial"/>
              </a:rPr>
              <a:t>•  </a:t>
            </a:r>
            <a:r>
              <a:rPr sz="1050">
                <a:solidFill>
                  <a:srgbClr val="16201C"/>
                </a:solidFill>
                <a:latin typeface="Arial"/>
              </a:rPr>
              <a:t>S1 ve S2 Kullanılabilirlik kaldıracıdır ve gerçek kazanım üretir. En büyük plansız duruş kalemini azaltmak iki farklı makinede de OEE'yi belirgin biçimde yükseltir.</a:t>
            </a:r>
          </a:p>
          <a:p>
            <a:pPr>
              <a:lnSpc>
                <a:spcPct val="110000"/>
              </a:lnSpc>
              <a:spcAft>
                <a:spcPts val="500"/>
              </a:spcAft>
            </a:pPr>
            <a:r>
              <a:rPr sz="1050" b="1">
                <a:solidFill>
                  <a:srgbClr val="0F7A52"/>
                </a:solidFill>
                <a:latin typeface="Arial"/>
              </a:rPr>
              <a:t>•  </a:t>
            </a:r>
            <a:r>
              <a:rPr sz="1050">
                <a:solidFill>
                  <a:srgbClr val="16201C"/>
                </a:solidFill>
                <a:latin typeface="Arial"/>
              </a:rPr>
              <a:t>S3 Performans kaldıracını test eder ve ölçülen sonuç sıfırdır. Üretim yapılan 777 makine gününün 605'inde Performans tam 1, 172'sinde 0'dır ve arada hiçbir gün yoktur. Bu veride çevrim iyileştirmesi OEE'yi hareket ettiremez.</a:t>
            </a:r>
          </a:p>
          <a:p>
            <a:pPr>
              <a:lnSpc>
                <a:spcPct val="110000"/>
              </a:lnSpc>
              <a:spcAft>
                <a:spcPts val="500"/>
              </a:spcAft>
            </a:pPr>
            <a:r>
              <a:rPr sz="1050" b="1">
                <a:solidFill>
                  <a:srgbClr val="0F7A52"/>
                </a:solidFill>
                <a:latin typeface="Arial"/>
              </a:rPr>
              <a:t>•  </a:t>
            </a:r>
            <a:r>
              <a:rPr sz="1050">
                <a:solidFill>
                  <a:srgbClr val="16201C"/>
                </a:solidFill>
                <a:latin typeface="Arial"/>
              </a:rPr>
              <a:t>S4 bağlantı kesintisinin giderilmesidir. 663 saatlik bağlantı görünürlüğü geri kazanılır, fakat bu bir IT aksiyonudur ve makine OEE'sine yazılmaz. Kalite kaldıracı da hurda kaydı sıfır olduğu için inerttir.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F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38912"/>
            <a:ext cx="10637215" cy="274320"/>
          </a:xfrm>
          <a:prstGeom prst="rect">
            <a:avLst/>
          </a:prstGeom>
          <a:noFill/>
        </p:spPr>
        <p:txBody>
          <a:bodyPr wrap="square" anchor="t" lIns="0" rIns="0" tIns="0" bIns="0">
            <a:spAutoFit/>
          </a:bodyPr>
          <a:lstStyle/>
          <a:p>
            <a:pPr algn="l">
              <a:lnSpc>
                <a:spcPct val="112000"/>
              </a:lnSpc>
            </a:pPr>
            <a:r>
              <a:rPr sz="1150" b="1">
                <a:solidFill>
                  <a:srgbClr val="0F7A52"/>
                </a:solidFill>
                <a:latin typeface="Arial"/>
              </a:rPr>
              <a:t>SONUÇ</a:t>
            </a:r>
          </a:p>
        </p:txBody>
      </p:sp>
      <p:sp>
        <p:nvSpPr>
          <p:cNvPr id="4" name="TextBox 3"/>
          <p:cNvSpPr txBox="1"/>
          <p:nvPr/>
        </p:nvSpPr>
        <p:spPr>
          <a:xfrm>
            <a:off x="777240" y="749808"/>
            <a:ext cx="10637215" cy="640080"/>
          </a:xfrm>
          <a:prstGeom prst="rect">
            <a:avLst/>
          </a:prstGeom>
          <a:noFill/>
        </p:spPr>
        <p:txBody>
          <a:bodyPr wrap="square" anchor="t" lIns="0" rIns="0" tIns="0" bIns="0">
            <a:spAutoFit/>
          </a:bodyPr>
          <a:lstStyle/>
          <a:p>
            <a:pPr algn="l">
              <a:lnSpc>
                <a:spcPct val="112000"/>
              </a:lnSpc>
            </a:pPr>
            <a:r>
              <a:rPr sz="2600" b="1">
                <a:solidFill>
                  <a:srgbClr val="16201C"/>
                </a:solidFill>
                <a:latin typeface="Arial"/>
              </a:rPr>
              <a:t>Tahmin eder, açıklar, sayısallaştırır</a:t>
            </a:r>
          </a:p>
        </p:txBody>
      </p:sp>
      <p:sp>
        <p:nvSpPr>
          <p:cNvPr id="5" name="Rectangle 4"/>
          <p:cNvSpPr/>
          <p:nvPr/>
        </p:nvSpPr>
        <p:spPr>
          <a:xfrm>
            <a:off x="777240" y="1755648"/>
            <a:ext cx="10637215" cy="10972"/>
          </a:xfrm>
          <a:prstGeom prst="rect">
            <a:avLst/>
          </a:prstGeom>
          <a:solidFill>
            <a:srgbClr val="D9D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6446520"/>
            <a:ext cx="7315200" cy="274320"/>
          </a:xfrm>
          <a:prstGeom prst="rect">
            <a:avLst/>
          </a:prstGeom>
          <a:noFill/>
        </p:spPr>
        <p:txBody>
          <a:bodyPr wrap="square" anchor="t" lIns="0" rIns="0" tIns="0" bIns="0">
            <a:spAutoFit/>
          </a:bodyPr>
          <a:lstStyle/>
          <a:p>
            <a:pPr algn="l">
              <a:lnSpc>
                <a:spcPct val="112000"/>
              </a:lnSpc>
            </a:pPr>
            <a:r>
              <a:rPr sz="900" b="0">
                <a:solidFill>
                  <a:srgbClr val="6B776F"/>
                </a:solidFill>
                <a:latin typeface="Arial"/>
              </a:rPr>
              <a:t>trexCloud · Kestirimci OEE ve Kök Neden Analizi</a:t>
            </a:r>
          </a:p>
        </p:txBody>
      </p:sp>
      <p:sp>
        <p:nvSpPr>
          <p:cNvPr id="7" name="TextBox 6"/>
          <p:cNvSpPr txBox="1"/>
          <p:nvPr/>
        </p:nvSpPr>
        <p:spPr>
          <a:xfrm>
            <a:off x="10911535" y="6446520"/>
            <a:ext cx="502920" cy="274320"/>
          </a:xfrm>
          <a:prstGeom prst="rect">
            <a:avLst/>
          </a:prstGeom>
          <a:noFill/>
        </p:spPr>
        <p:txBody>
          <a:bodyPr wrap="square" anchor="t" lIns="0" rIns="0" tIns="0" bIns="0">
            <a:spAutoFit/>
          </a:bodyPr>
          <a:lstStyle/>
          <a:p>
            <a:pPr algn="r">
              <a:lnSpc>
                <a:spcPct val="112000"/>
              </a:lnSpc>
            </a:pPr>
            <a:r>
              <a:rPr sz="900" b="0">
                <a:solidFill>
                  <a:srgbClr val="6B776F"/>
                </a:solidFill>
                <a:latin typeface="Arial"/>
              </a:rPr>
              <a:t>12</a:t>
            </a:r>
          </a:p>
        </p:txBody>
      </p:sp>
      <p:sp>
        <p:nvSpPr>
          <p:cNvPr id="8" name="Rectangle 7"/>
          <p:cNvSpPr/>
          <p:nvPr/>
        </p:nvSpPr>
        <p:spPr>
          <a:xfrm>
            <a:off x="777240" y="2240280"/>
            <a:ext cx="2487853" cy="123444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048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2,38×</a:t>
            </a:r>
          </a:p>
        </p:txBody>
      </p:sp>
      <p:sp>
        <p:nvSpPr>
          <p:cNvPr id="10" name="TextBox 9"/>
          <p:cNvSpPr txBox="1"/>
          <p:nvPr/>
        </p:nvSpPr>
        <p:spPr>
          <a:xfrm>
            <a:off x="868680" y="30449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Fanuc duruş tahmini lift</a:t>
            </a:r>
          </a:p>
        </p:txBody>
      </p:sp>
      <p:sp>
        <p:nvSpPr>
          <p:cNvPr id="11" name="Rectangle 10"/>
          <p:cNvSpPr/>
          <p:nvPr/>
        </p:nvSpPr>
        <p:spPr>
          <a:xfrm>
            <a:off x="3493693" y="2240280"/>
            <a:ext cx="2487853" cy="123444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693" y="24048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2062 saat</a:t>
            </a:r>
          </a:p>
        </p:txBody>
      </p:sp>
      <p:sp>
        <p:nvSpPr>
          <p:cNvPr id="13" name="TextBox 12"/>
          <p:cNvSpPr txBox="1"/>
          <p:nvPr/>
        </p:nvSpPr>
        <p:spPr>
          <a:xfrm>
            <a:off x="3585133" y="30449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önceden yakalanan duruş süresi</a:t>
            </a:r>
          </a:p>
        </p:txBody>
      </p:sp>
      <p:sp>
        <p:nvSpPr>
          <p:cNvPr id="14" name="Rectangle 13"/>
          <p:cNvSpPr/>
          <p:nvPr/>
        </p:nvSpPr>
        <p:spPr>
          <a:xfrm>
            <a:off x="6210147" y="2240280"/>
            <a:ext cx="2487853" cy="123444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0147" y="24048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z = 5,16</a:t>
            </a:r>
          </a:p>
        </p:txBody>
      </p:sp>
      <p:sp>
        <p:nvSpPr>
          <p:cNvPr id="16" name="TextBox 15"/>
          <p:cNvSpPr txBox="1"/>
          <p:nvPr/>
        </p:nvSpPr>
        <p:spPr>
          <a:xfrm>
            <a:off x="6301587" y="30449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senkron duruş anlamlılığı</a:t>
            </a:r>
          </a:p>
        </p:txBody>
      </p:sp>
      <p:sp>
        <p:nvSpPr>
          <p:cNvPr id="17" name="Rectangle 16"/>
          <p:cNvSpPr/>
          <p:nvPr/>
        </p:nvSpPr>
        <p:spPr>
          <a:xfrm>
            <a:off x="8926601" y="2240280"/>
            <a:ext cx="2487853" cy="1234440"/>
          </a:xfrm>
          <a:prstGeom prst="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6601" y="2404872"/>
            <a:ext cx="2487853" cy="457200"/>
          </a:xfrm>
          <a:prstGeom prst="rect">
            <a:avLst/>
          </a:prstGeom>
          <a:noFill/>
        </p:spPr>
        <p:txBody>
          <a:bodyPr wrap="square" anchor="t" lIns="0" rIns="0" tIns="0" bIns="0">
            <a:spAutoFit/>
          </a:bodyPr>
          <a:lstStyle/>
          <a:p>
            <a:pPr algn="ctr">
              <a:lnSpc>
                <a:spcPct val="112000"/>
              </a:lnSpc>
            </a:pPr>
            <a:r>
              <a:rPr sz="2600" b="1">
                <a:solidFill>
                  <a:srgbClr val="0F7A52"/>
                </a:solidFill>
                <a:latin typeface="Arial"/>
              </a:rPr>
              <a:t>+18 puan</a:t>
            </a:r>
          </a:p>
        </p:txBody>
      </p:sp>
      <p:sp>
        <p:nvSpPr>
          <p:cNvPr id="19" name="TextBox 18"/>
          <p:cNvSpPr txBox="1"/>
          <p:nvPr/>
        </p:nvSpPr>
        <p:spPr>
          <a:xfrm>
            <a:off x="9018041" y="3044952"/>
            <a:ext cx="2304973" cy="365760"/>
          </a:xfrm>
          <a:prstGeom prst="rect">
            <a:avLst/>
          </a:prstGeom>
          <a:noFill/>
        </p:spPr>
        <p:txBody>
          <a:bodyPr wrap="square" anchor="t" lIns="0" rIns="0" tIns="0" bIns="0">
            <a:spAutoFit/>
          </a:bodyPr>
          <a:lstStyle/>
          <a:p>
            <a:pPr algn="ctr">
              <a:lnSpc>
                <a:spcPct val="112000"/>
              </a:lnSpc>
            </a:pPr>
            <a:r>
              <a:rPr sz="1050" b="0">
                <a:solidFill>
                  <a:srgbClr val="6B776F"/>
                </a:solidFill>
                <a:latin typeface="Arial"/>
              </a:rPr>
              <a:t>en iyi What-If OEE kazanımı</a:t>
            </a:r>
          </a:p>
        </p:txBody>
      </p:sp>
      <p:sp>
        <p:nvSpPr>
          <p:cNvPr id="20" name="TextBox 19"/>
          <p:cNvSpPr txBox="1"/>
          <p:nvPr/>
        </p:nvSpPr>
        <p:spPr>
          <a:xfrm>
            <a:off x="777240" y="4114800"/>
            <a:ext cx="10637215" cy="2011680"/>
          </a:xfrm>
          <a:prstGeom prst="rect">
            <a:avLst/>
          </a:prstGeom>
          <a:noFill/>
        </p:spPr>
        <p:txBody>
          <a:bodyPr wrap="square" lIns="0" tIns="0">
            <a:spAutoFit/>
          </a:bodyPr>
          <a:lstStyle/>
          <a:p>
            <a:pPr>
              <a:lnSpc>
                <a:spcPct val="110000"/>
              </a:lnSpc>
              <a:spcAft>
                <a:spcPts val="1000"/>
              </a:spcAft>
            </a:pPr>
            <a:r>
              <a:rPr sz="1350" b="1">
                <a:solidFill>
                  <a:srgbClr val="0F7A52"/>
                </a:solidFill>
                <a:latin typeface="Arial"/>
              </a:rPr>
              <a:t>•  </a:t>
            </a:r>
            <a:r>
              <a:rPr sz="1350">
                <a:solidFill>
                  <a:srgbClr val="16201C"/>
                </a:solidFill>
                <a:latin typeface="Arial"/>
              </a:rPr>
              <a:t>Sistem tek bir hatta üç işi birlikte yapar: Fanuc hücresinde duruşu önceden tahmin eder, kök nedeni alarm zinciriyle açıklar ve düzeltmenin OEE kazanımını sayısallaştırır.</a:t>
            </a:r>
          </a:p>
          <a:p>
            <a:pPr>
              <a:lnSpc>
                <a:spcPct val="110000"/>
              </a:lnSpc>
              <a:spcAft>
                <a:spcPts val="1000"/>
              </a:spcAft>
            </a:pPr>
            <a:r>
              <a:rPr sz="1350" b="1">
                <a:solidFill>
                  <a:srgbClr val="0F7A52"/>
                </a:solidFill>
                <a:latin typeface="Arial"/>
              </a:rPr>
              <a:t>•  </a:t>
            </a:r>
            <a:r>
              <a:rPr sz="1350">
                <a:solidFill>
                  <a:srgbClr val="16201C"/>
                </a:solidFill>
                <a:latin typeface="Arial"/>
              </a:rPr>
              <a:t>Her iddia bir null model ile sınanmıştır. Canlı arayüz tahminden kök nedene ve What-If analizine uzanan akışı uçtan uca gösterir.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