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Kısa ve iddialı giriş: bir CNC + lazer tesisinin verisinden uçtan uca bir öngörücü OEE ve kök-neden sistemi kurduk. Hedefimiz değerlendirmenin en üst iki seviyesi: Altın ve Platin.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Jüriye yol haritasını ver: her rozetin ne istediğini bir cümlede söyle. Alttaki iki seviyeyi eksiksiz yapıyoruz; sunumun ağırlığı Altın ve Platin'de olacak.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güçlü farkımız: dokümanın vaat ettiği zengin sinyallerin akmadığını tespit ettik ve modeli gerçekte akan sinyallere kurduk. Bu, jüri gözünde güvenilirlik demektir.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Sistemi bir resimde anlat. Kanonik rol katmanı sayesinde farklı markaların sinyallerini ortak bir dile çeviriyoruz; tahmini ve çapraz-makine analizini bu mümkün kılıyor.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Hızlı geç. Kritik ayrım: en büyük duruş kalemi aslında bir IT/ağ sorunu. Bunu ayırmak doğru aksiyonun ön koşulu.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Altın'ın kalbi: birden çok sinyalin baseline'dan saptığını saptıyoruz, sonra alarmları nedensel önceliğe göre sıralayıp kök nedene iniyoruz. Z-ekseni hatası bir sonuç; gerçek kök neden hava basıncı. Dürüstlük: sapmanın bu olayda eşzamanlı olduğunu açıkça söyle. Canlı demo: Tahmin → Aksiyon panosu, bölüm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Madalya tahmin istemiyordu ama biz duruşu 60 dakika önceden tahmin ediyoruz. Dürüst çerçeve: iyi bir risk sıralayıcı, kâhin değil; ve neden yalnız Fanuc'a sınırlı olduğunu biliyoruz. Canlı demo: risk zaman çizgisi.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Platin'in en kritik kriteri. Her çapraz-makine iddiamızı bir null-model'den geçirdik. Eşzamanlı duruşlar gerçek; ama kümeyi abartmadık — ortak bir ritim, eşzamanlı arıza değil. Canlı demo: Çapraz Makine panosu.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Çözümün etkisini sayısallaştırıyoruz. Kaydırıcıyı oynatınca OEE ve euro canlı güncelleniyor. Maliyet verisi olmadığından varsayımları açıkça etiketliyoruz. Canlı demo: What-If kaydırıcısı.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Bunu biz söyleyince güven artar: neyi tahmin edemediğimizi de biliyoruz. Sınırları jüri bulmadan biz koyuyoruz. Dürüst bir analiz, parlak ama yanlış olandan iyidir.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Kapanış: dürüst, çalışan, uçtan uca bir sistem kurduk. Tahmin eder, açıklar, sayısallaştırır; ve her scoping kararının veri temelli bir gerekçesi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127145"/>
                </a:solidFill>
                <a:latin typeface="Helvetica Neue"/>
              </a:rPr>
              <a:t>TREXCLOUD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6372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4000" b="1">
                <a:solidFill>
                  <a:srgbClr val="1A1F1D"/>
                </a:solidFill>
                <a:latin typeface="Helvetica Neue"/>
              </a:rPr>
              <a:t>Öngörücü OEE &amp; Kök-Neden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6B7771"/>
                </a:solidFill>
                <a:latin typeface="Helvetica Neue"/>
              </a:rPr>
              <a:t>Bir CNC + lazer tesisi için uçtan uca tahmin, kök-neden ve What-If sistemi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09160"/>
            <a:ext cx="2011680" cy="18288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8920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Veri dönemi: Ağustos 2025 – Mayıs 2026  ·  12 makine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YAKLAŞIM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Hedef: değerlendirmenin en üst iki seviyesi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1A1F1D"/>
                </a:solidFill>
                <a:latin typeface="Helvetica Neue"/>
              </a:rPr>
              <a:t>Değerlendirme dört seviyeli. Bronz ve Gümüş bizde temel; odağımız Altın ve Platin.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34640"/>
            <a:ext cx="2453563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34640"/>
            <a:ext cx="2453563" cy="109728"/>
          </a:xfrm>
          <a:prstGeom prst="rect">
            <a:avLst/>
          </a:prstGeom>
          <a:solidFill>
            <a:srgbClr val="A97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154680"/>
            <a:ext cx="21243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1D"/>
                </a:solidFill>
                <a:latin typeface="Helvetica Neue"/>
              </a:rPr>
              <a:t>BRONZ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611880"/>
            <a:ext cx="21243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Alarm ve duruşları zaman aralığında listele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5123" y="2834640"/>
            <a:ext cx="2453563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5123" y="2834640"/>
            <a:ext cx="2453563" cy="109728"/>
          </a:xfrm>
          <a:prstGeom prst="rect">
            <a:avLst/>
          </a:prstGeom>
          <a:solidFill>
            <a:srgbClr val="8A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9715" y="3154680"/>
            <a:ext cx="21243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1D"/>
                </a:solidFill>
                <a:latin typeface="Helvetica Neue"/>
              </a:rPr>
              <a:t>GÜMÜŞ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9715" y="3611880"/>
            <a:ext cx="21243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Alarmları duruşlarla eşleştir, Pareto çıkar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2834640"/>
            <a:ext cx="2453563" cy="2468880"/>
          </a:xfrm>
          <a:prstGeom prst="rect">
            <a:avLst/>
          </a:prstGeom>
          <a:solidFill>
            <a:srgbClr val="ECF4EF"/>
          </a:solidFill>
          <a:ln w="19050">
            <a:solidFill>
              <a:srgbClr val="127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2834640"/>
            <a:ext cx="2453563" cy="109728"/>
          </a:xfrm>
          <a:prstGeom prst="rect">
            <a:avLst/>
          </a:prstGeom>
          <a:solidFill>
            <a:srgbClr val="C98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7599" y="3154680"/>
            <a:ext cx="21243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1D"/>
                </a:solidFill>
                <a:latin typeface="Helvetica Neue"/>
              </a:rPr>
              <a:t>ALTIN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7599" y="3611880"/>
            <a:ext cx="21243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1A1F1D"/>
                </a:solidFill>
                <a:latin typeface="Helvetica Neue"/>
              </a:rPr>
              <a:t>Baseline sapma + çok-sinyal → nedensellik zinciri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4892040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27145"/>
                </a:solidFill>
                <a:latin typeface="Helvetica Neue"/>
              </a:rPr>
              <a:t>HEDEF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0891" y="2834640"/>
            <a:ext cx="2453563" cy="2468880"/>
          </a:xfrm>
          <a:prstGeom prst="rect">
            <a:avLst/>
          </a:prstGeom>
          <a:solidFill>
            <a:srgbClr val="ECF4EF"/>
          </a:solidFill>
          <a:ln w="19050">
            <a:solidFill>
              <a:srgbClr val="127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0891" y="2834640"/>
            <a:ext cx="2453563" cy="109728"/>
          </a:xfrm>
          <a:prstGeom prst="rect">
            <a:avLst/>
          </a:prstGeom>
          <a:solidFill>
            <a:srgbClr val="2F8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483" y="3154680"/>
            <a:ext cx="21243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1A1F1D"/>
                </a:solidFill>
                <a:latin typeface="Helvetica Neue"/>
              </a:rPr>
              <a:t>PLATİN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483" y="3611880"/>
            <a:ext cx="21243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0">
                <a:solidFill>
                  <a:srgbClr val="1A1F1D"/>
                </a:solidFill>
                <a:latin typeface="Helvetica Neue"/>
              </a:rPr>
              <a:t>Çapraz-makine örüntü + ΔOEE + finansal öneri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483" y="4892040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50" b="1">
                <a:solidFill>
                  <a:srgbClr val="127145"/>
                </a:solidFill>
                <a:latin typeface="Helvetica Neue"/>
              </a:rPr>
              <a:t>HEDEF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VERI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Önce veriyi dürüstçe envanterledik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950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12 makine, yaklaşık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7,4 milyon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 telemetri kaydı; cp1254 kodlama, UTC, milisaniye.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Dokümanın vaat ettiği kanıt sinyalleri (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servo sıcaklık, path-load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) pratikte boş: en yoğun makinede bile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0 / 28 satır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Gerçekte akan sinyaller: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cycle_time, run_state, run_time, axis_position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. Nightwatch–MES eşleşmesi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162 / 162 (%100)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754880"/>
            <a:ext cx="10637215" cy="960120"/>
          </a:xfrm>
          <a:prstGeom prst="rect">
            <a:avLst/>
          </a:prstGeom>
          <a:solidFill>
            <a:srgbClr val="ECF4EF"/>
          </a:solidFill>
          <a:ln w="15240">
            <a:solidFill>
              <a:srgbClr val="127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1A1F1D"/>
                </a:solidFill>
                <a:latin typeface="Helvetica Neue"/>
              </a:rPr>
              <a:t>Modeli dokümanın değil, gerçekten akan sinyallerin üzerine kurduk. Jüri veriyi iyi bilir; dürüst envanter güven kazandırır.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MIMARI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Uçtan uca 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179825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61537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A1F1D"/>
                </a:solidFill>
                <a:latin typeface="Helvetica Neue"/>
              </a:rPr>
              <a:t>Kanonik sinyal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A1F1D"/>
                </a:solidFill>
                <a:latin typeface="Helvetica Neue"/>
              </a:rPr>
              <a:t>katmanı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8651" y="3246120"/>
            <a:ext cx="274320" cy="365760"/>
          </a:xfrm>
          <a:prstGeom prst="rightArrow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86979" y="2743200"/>
            <a:ext cx="179825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8419" y="2743200"/>
            <a:ext cx="161537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A1F1D"/>
                </a:solidFill>
                <a:latin typeface="Helvetica Neue"/>
              </a:rPr>
              <a:t>Baseline sapma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A1F1D"/>
                </a:solidFill>
                <a:latin typeface="Helvetica Neue"/>
              </a:rPr>
              <a:t>(AD)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58390" y="3246120"/>
            <a:ext cx="274320" cy="365760"/>
          </a:xfrm>
          <a:prstGeom prst="rightArrow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96718" y="2743200"/>
            <a:ext cx="179825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8158" y="2743200"/>
            <a:ext cx="161537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A1F1D"/>
                </a:solidFill>
                <a:latin typeface="Helvetica Neue"/>
              </a:rPr>
              <a:t>Kök-neden</a:t>
            </a:r>
          </a:p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A1F1D"/>
                </a:solidFill>
                <a:latin typeface="Helvetica Neue"/>
              </a:rPr>
              <a:t>(RCA)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68129" y="3246120"/>
            <a:ext cx="274320" cy="365760"/>
          </a:xfrm>
          <a:prstGeom prst="rightArrow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06457" y="2743200"/>
            <a:ext cx="179825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7897" y="2743200"/>
            <a:ext cx="161537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A1F1D"/>
                </a:solidFill>
                <a:latin typeface="Helvetica Neue"/>
              </a:rPr>
              <a:t>What-If / OEE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277868" y="3246120"/>
            <a:ext cx="274320" cy="365760"/>
          </a:xfrm>
          <a:prstGeom prst="rightArrow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16196" y="2743200"/>
            <a:ext cx="1798259" cy="1371600"/>
          </a:xfrm>
          <a:prstGeom prst="roundRect">
            <a:avLst/>
          </a:prstGeom>
          <a:solidFill>
            <a:srgbClr val="ECF4EF"/>
          </a:solidFill>
          <a:ln w="19050">
            <a:solidFill>
              <a:srgbClr val="127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7636" y="2743200"/>
            <a:ext cx="161537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127145"/>
                </a:solidFill>
                <a:latin typeface="Helvetica Neue"/>
              </a:rPr>
              <a:t>Tahmin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6B7771"/>
                </a:solidFill>
                <a:latin typeface="Helvetica Neue"/>
              </a:rPr>
              <a:t>Vendor-bağımsız rol haritası çapraz-makineyi mümkün kılar: Fanuc IsNotRunning ile Mitsubishi RUN_STATUS_START aynı role eşlenir.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406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0">
                <a:solidFill>
                  <a:srgbClr val="1A1F1D"/>
                </a:solidFill>
                <a:latin typeface="Helvetica Neue"/>
              </a:rPr>
              <a:t>Rejim ayrımı:  </a:t>
            </a:r>
            <a:r>
              <a:rPr sz="1350" b="1">
                <a:solidFill>
                  <a:srgbClr val="1A1F1D"/>
                </a:solidFill>
                <a:latin typeface="Helvetica Neue"/>
              </a:rPr>
              <a:t>Fanuc {1,2,3,5,9}</a:t>
            </a:r>
            <a:r>
              <a:rPr sz="1350" b="0">
                <a:solidFill>
                  <a:srgbClr val="1A1F1D"/>
                </a:solidFill>
                <a:latin typeface="Helvetica Neue"/>
              </a:rPr>
              <a:t>   ·   </a:t>
            </a:r>
            <a:r>
              <a:rPr sz="1350" b="1">
                <a:solidFill>
                  <a:srgbClr val="1A1F1D"/>
                </a:solidFill>
                <a:latin typeface="Helvetica Neue"/>
              </a:rPr>
              <a:t>Mitsubishi {7,8}</a:t>
            </a:r>
            <a:r>
              <a:rPr sz="1350" b="0">
                <a:solidFill>
                  <a:srgbClr val="1A1F1D"/>
                </a:solidFill>
                <a:latin typeface="Helvetica Neue"/>
              </a:rPr>
              <a:t>   ·   telemetrisiz {4,6,10, TurboCut, ARES}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BRONZ · GÜMÜŞ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Temel: olay akışı, eşleştirme, Pareto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950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Alarm, duruş, bağlantı kesintisi ve sapma olayları tek bir akışta birleşik.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Alarmlar duruşlara zaman damgasıyla eşleştirildi (ileri yönlü asof).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Pareto, duruşu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arıza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 ve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bağlantı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 olarak ayırır — yatırım kararını bu ayrım belirler.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754880"/>
            <a:ext cx="10637215" cy="960120"/>
          </a:xfrm>
          <a:prstGeom prst="rect">
            <a:avLst/>
          </a:prstGeom>
          <a:solidFill>
            <a:srgbClr val="ECF4EF"/>
          </a:solidFill>
          <a:ln w="15240">
            <a:solidFill>
              <a:srgbClr val="127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1A1F1D"/>
                </a:solidFill>
                <a:latin typeface="Helvetica Neue"/>
              </a:rPr>
              <a:t>En büyük duruş kaynağı bir makine arızası değil, bağlantı kesintisidir (System Offline). Bunu ayırmazsanız yanlış yere yatırım yaparsınız.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ALTIN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Baseline sapma + çok-sinyal → nedensellik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6B7771"/>
                </a:solidFill>
                <a:latin typeface="Helvetica Neue"/>
              </a:rPr>
              <a:t>Örnek olay:  Makine 1  ·  12 Ocak 2026, 04:47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3291840" cy="822960"/>
          </a:xfrm>
          <a:prstGeom prst="roundRect">
            <a:avLst/>
          </a:prstGeom>
          <a:solidFill>
            <a:srgbClr val="ECF4EF"/>
          </a:solidFill>
          <a:ln w="19050">
            <a:solidFill>
              <a:srgbClr val="127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27145"/>
                </a:solidFill>
                <a:latin typeface="Helvetica Neue"/>
              </a:rPr>
              <a:t>AIR PRESSURE FAILED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27145"/>
                </a:solidFill>
                <a:latin typeface="Helvetica Neue"/>
              </a:rPr>
              <a:t>kök neden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06240" y="2944368"/>
            <a:ext cx="411480" cy="411480"/>
          </a:xfrm>
          <a:prstGeom prst="rightArrow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79" y="269748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697480"/>
            <a:ext cx="3291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A1F1D"/>
                </a:solidFill>
                <a:latin typeface="Helvetica Neue"/>
              </a:rPr>
              <a:t>Z-AXIS ZERO RETURN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A1F1D"/>
                </a:solidFill>
                <a:latin typeface="Helvetica Neue"/>
              </a:rPr>
              <a:t>sonuç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0637215" cy="21945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Baseline sapma imzası (robust-z): 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run_state −7,7σ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 (makine duruyor),  cycle_time −0,8σ.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Alarmlar dizine göre değil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nedensel önceliğe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 göre sıralanır: kök neden hava basıncı, Z-ekseni hatası sonuçtur.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Dürüst not: bu olayda sapma eşzamanlı kanıttır, öngörücü bir öncül değildir.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TAHMIN ·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Duruşu önceden tahmin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330189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3018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3800" b="1">
                <a:solidFill>
                  <a:srgbClr val="127145"/>
                </a:solidFill>
                <a:latin typeface="Helvetica Neue"/>
              </a:rPr>
              <a:t>0,73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ROC-AUC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4898" y="2697480"/>
            <a:ext cx="330189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4898" y="2880360"/>
            <a:ext cx="33018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3800" b="1">
                <a:solidFill>
                  <a:srgbClr val="127145"/>
                </a:solidFill>
                <a:latin typeface="Helvetica Neue"/>
              </a:rPr>
              <a:t>2,38×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365760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taban-üstü kazanç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2556" y="2697480"/>
            <a:ext cx="330189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2556" y="2880360"/>
            <a:ext cx="33018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3800" b="1">
                <a:solidFill>
                  <a:srgbClr val="127145"/>
                </a:solidFill>
                <a:latin typeface="Helvetica Neue"/>
              </a:rPr>
              <a:t>%44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2556" y="365760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dönem isabeti · taban %18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Sızıntısız kurulum: makine-içi kronolojik ayrım, geçmiş-yalnız öznitelik, makine-içi normalizasyon.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Kapsam Fanuc üretim hücresi — duruş öncesi sinyali (cycle-time, run-state) yalnız orada akıyor.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6B7771"/>
                </a:solidFill>
                <a:latin typeface="Helvetica Neue"/>
              </a:rPr>
              <a:t>Abartmıyoruz: bu kullanışlı bir risk sıralayıcı; makine-içi ROC ≈ 0,72, kâhin değil.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PLATIN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Çapraz-makine örüntüleri — null-model 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1A1F1D"/>
                </a:solidFill>
                <a:latin typeface="Helvetica Neue"/>
              </a:rPr>
              <a:t>≥2 makinenin aynı saatte plansız duruşa girmesi — şansın ve vardiya ritminin ötesinde 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1F1D"/>
                </a:solidFill>
                <a:latin typeface="Helvetica Neue"/>
              </a:rPr>
              <a:t>Gözlemlenen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880360"/>
            <a:ext cx="5281381" cy="36576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4701" y="287121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A1F1D"/>
                </a:solidFill>
                <a:latin typeface="Helvetica Neue"/>
              </a:rPr>
              <a:t>708 saat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1F1D"/>
                </a:solidFill>
                <a:latin typeface="Helvetica Neue"/>
              </a:rPr>
              <a:t>Beklenen (saat-içi ritim)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447288"/>
            <a:ext cx="4207202" cy="365760"/>
          </a:xfrm>
          <a:prstGeom prst="rect">
            <a:avLst/>
          </a:prstGeom>
          <a:solidFill>
            <a:srgbClr val="6B7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10522" y="34381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A1F1D"/>
                </a:solidFill>
                <a:latin typeface="Helvetica Neue"/>
              </a:rPr>
              <a:t>564 saat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959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A1F1D"/>
                </a:solidFill>
                <a:latin typeface="Helvetica Neue"/>
              </a:rPr>
              <a:t>Beklenen (rastgele)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4014215"/>
            <a:ext cx="2484039" cy="365760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359" y="400507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1A1F1D"/>
                </a:solidFill>
                <a:latin typeface="Helvetica Neue"/>
              </a:rPr>
              <a:t>333 saat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1A1F1D"/>
                </a:solidFill>
                <a:latin typeface="Helvetica Neue"/>
              </a:rPr>
              <a:t>Sonuç:  </a:t>
            </a:r>
            <a:r>
              <a:rPr sz="1400" b="1">
                <a:solidFill>
                  <a:srgbClr val="1A1F1D"/>
                </a:solidFill>
                <a:latin typeface="Helvetica Neue"/>
              </a:rPr>
              <a:t>z = 5,16, p &lt; 0,001</a:t>
            </a:r>
            <a:r>
              <a:rPr sz="1400" b="0">
                <a:solidFill>
                  <a:srgbClr val="1A1F1D"/>
                </a:solidFill>
                <a:latin typeface="Helvetica Neue"/>
              </a:rPr>
              <a:t> — senkronizasyon, ortak vardiya programıyla açıklanamıyor.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10637215" cy="822959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Eski yöntemin 1 numaralı ‘sistemik’ bulgusu (bağlantı) bir kayıt tekrarıydı; ayıkladık.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Eşleşen küme {1,2,3,9} ortak bir çalışma ritmidir — eşzamanlı arıza yayılımı değil (dürüst okuma).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PLATIN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ΔOEE ve finansal etki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950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W1 senaryosu: bir makinenin plansız duruşunu azalt → kullanılabilirlik yükselir.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Etki, OEE bileşenlerine ayrıştırılır (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A / P / Q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); geri kazanılan saat ve ek parça hesaplanır.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Net fayda ve geri ödeme süresi çıkarılır; kaydırıcı ile canlı güncellenir.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846320"/>
            <a:ext cx="10637215" cy="914400"/>
          </a:xfrm>
          <a:prstGeom prst="rect">
            <a:avLst/>
          </a:prstGeom>
          <a:solidFill>
            <a:srgbClr val="ECF4EF"/>
          </a:solidFill>
          <a:ln w="15240">
            <a:solidFill>
              <a:srgbClr val="1271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47488"/>
            <a:ext cx="101800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1A1F1D"/>
                </a:solidFill>
                <a:latin typeface="Helvetica Neue"/>
              </a:rPr>
              <a:t>Veri setinde maliyet/fiyat yok. Tüm parasal değerler açıkça VARSAYIM olarak etiketlidir — gerçek değil, hipotez.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SINIRLAR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Neyi tahmin edemeyeceğimizi de biliyoruz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950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Kondisyon sinyalleri (sıcaklık, yük) boş → tahminin tavanını model değil, </a:t>
            </a:r>
            <a:r>
              <a:rPr sz="1600" b="1">
                <a:solidFill>
                  <a:srgbClr val="1A1F1D"/>
                </a:solidFill>
                <a:latin typeface="Helvetica Neue"/>
              </a:rPr>
              <a:t>veri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 belirler.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Mitsubishi 60 dk’da %53 duruş: tahmin doygun. 30 dk ufkunda zayıf ama mevcut; makineler atılmadı.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Plansız duruşlar tek etiket taşır → ‘ne / ne zaman’ var, ‘neden’ yalnız Makine 1 ve 2’de.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Kalite kaydı yok → Q simüle edilir; üretimsiz günlerde P doğal olarak sıfır.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7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27145"/>
                </a:solidFill>
                <a:latin typeface="Helvetica Neue"/>
              </a:rPr>
              <a:t>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2900" b="1">
                <a:solidFill>
                  <a:srgbClr val="1A1F1D"/>
                </a:solidFill>
                <a:latin typeface="Helvetica Neue"/>
              </a:rPr>
              <a:t>Dürüst, çalışan, uçtan uca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10972"/>
          </a:xfrm>
          <a:prstGeom prst="rect">
            <a:avLst/>
          </a:prstGeom>
          <a:solidFill>
            <a:srgbClr val="D9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437376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trexCloud · Öngörücü OEE &amp; Kök-Neden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3737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800"/>
              </a:spcAft>
            </a:pPr>
            <a:r>
              <a:rPr sz="900" b="0">
                <a:solidFill>
                  <a:srgbClr val="6B7771"/>
                </a:solidFill>
                <a:latin typeface="Helvetica Neue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637215" cy="3950208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Dört seviye de kapsandı; en üst ikisi — Altın ve Platin — güçlü biçimde karşılandı.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Tek akışta: duruş tahmini (Fanuc 2,38×) + kök-neden (kaskad) + sayısal ΔOEE / € önerisi.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127145"/>
                </a:solidFill>
                <a:latin typeface="Helvetica Neue"/>
              </a:rPr>
              <a:t>—  </a:t>
            </a:r>
            <a:r>
              <a:rPr sz="1600" b="0">
                <a:solidFill>
                  <a:srgbClr val="1A1F1D"/>
                </a:solidFill>
                <a:latin typeface="Helvetica Neue"/>
              </a:rPr>
              <a:t>Sonraki adım: makine-bazlı olasılık kalibrasyonu, Mitsubishi için kısa-ufuk hedef.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892040"/>
            <a:ext cx="10637215" cy="868680"/>
          </a:xfrm>
          <a:prstGeom prst="rect">
            <a:avLst/>
          </a:prstGeom>
          <a:solidFill>
            <a:srgbClr val="1A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1800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Helvetica Neue"/>
              </a:rPr>
              <a:t>Tahmin eder, açıklar, sayısallaştırır — ve filodaki her makine için neden öyle davrandığımızı biliriz.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