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Kısa ve iddialı giriş: bir CNC + lazer tesisinin verisinden uçtan uca bir öngörücü OEE ve kök-neden sistemi kurduk. Hedefimiz değerlendirmenin en üst iki seviyesi: Altın ve Platin.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Jüriye yol haritasını ver: her rozetin ne istediğini bir cümlede söyle. Alttaki iki seviyeyi eksiksiz yapıyoruz; sunumun ağırlığı Altın ve Platin'de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güçlü farkımız: dokümanın vaat ettiği zengin sinyallerin akmadığını tespit ettik ve modeli gerçekte akan sinyallere kurduk. Bu, jüri gözünde güvenilirlik demektir.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Sistemi bir resimde anlat. Kanonik rol katmanı sayesinde farklı markaların sinyallerini ortak bir dile çeviriyoruz; tahmini ve çapraz-makine analizini bu mümkün kılıyor.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Hızlı geç. Kritik ayrım: en büyük duruş kalemi aslında bir IT/ağ sorunu. Bunu ayırmak doğru aksiyonun ön koşulu.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Altın'ın kalbi: birden çok sinyalin baseline'dan saptığını saptıyoruz, sonra alarmları nedensel önceliğe göre sıralayıp kök nedene iniyoruz. Z-ekseni hatası bir sonuç; gerçek kök neden hava basıncı. Dürüstlük: sapmanın bu olayda eşzamanlı olduğunu açıkça söyle. Canlı demo: Tahmin → Aksiyon panosu, bölüm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Tahmini ilk kez doğrudan OEE ve euroya bağlıyoruz. Recall yakalanabilecek duruş havuzunu, alarm isabeti ve alarm sayısı ise müdahale maliyetini belirliyor. Varsayılan 300 euro kontrol maliyetinde dağıtılan eşik ekonomik değil; bunu saklamıyoruz. Retrospektif ekonomik eşik daha az alarm ve pozitif net değer üretiyor, ama canlı model seçimi olarak sunulmuyor.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Platin'in en kritik kriteri. Her çapraz-makine iddiamızı bir null-model'den geçirdik. Eşzamanlı duruşlar gerçek; ama kümeyi abartmadık — ortak bir ritim, eşzamanlı arıza değil. Canlı demo: Çapraz Makine panosu.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Dört senaryo aynı hesap sözleşmesiyle incelenebilir. S1 gerçek OEE ve zaman kazanımıdır. S2 runtime yaratmadan A'yı yükseltir; bu yüzden finansal faydası yoktur. S3 veri yokluğunda bilerek inerttir. S4 bağlantı görünürlüğünü geri getirir ama makine OEE'sine yazılmaz.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Bunu biz söyleyince güven artar: neyi tahmin edemediğimizi de biliyoruz. Sınırları jüri bulmadan biz koyuyoruz. Dürüst bir analiz, parlak ama yanlış olandan iyidir.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Kapanış: dürüst, çalışan, uçtan uca bir sistem kurduk. Tahmin eder, açıklar, sayısallaştırır; ve her scoping kararının veri temelli bir gerekçesi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Genel Bakış ekranında önce üç tesis KPI'sını göster. Sonra makine kartlarının rejim renklerini açıkla: yeşil Fanuc tahmin hücresi, kehribar Mitsubishi RCA/OEE, gri telemetrisiz. Bir karta tıklanınca sağda OEE bileşenleri açılır.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Pareto'da kırmızı ve gri ayrımını vurgula. System Offline makine arızası değildir. Bu ekran aksiyon sahibini belirler: bakım mı, IT/ağ mı?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ekran modelin tutulmamış gelecekteki riskini gösterir. Yeşil risk çizgisini, sabit alarm eşiğini ve gerçek duruş işaretlerini anlat. Alt dönemlerden biri seçilince RCA ve What-If akışı aynı sayfada devam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Makine 1 örneğinde alarm sırası ile neden sırasının aynı şey olmadığını anlat. Hava basıncı kök neden, Z ekseni geri dönüş alarmı sonuçtur. Sağdaki hipotezler olasılık ve önerilen aksiyonla birlikte gösterilir.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Üst kart model-atfedilebilir değerdir: kaçırılan duruşlara değer yazılmaz ve her alarm kontrol maliyeti doğurur. Alt kart genel What-If'tir; kullanıcı yüzdeyi ve finansal varsayımları değiştirerek A/P/Q/OEE etkisini anında görür.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Katalogdaki dört satırı kısa yorumla. Özellikle S2'nin runtime yaratmadığını, S3'ün ProductSum sıfır olduğu için inert kaldığını ve S4'ün makine OEE'sine yazılmadığını söyle.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ekranı soru gelirse aç. Eski yöntemin totolojisini, null-model destekli senkronizasyonu, veri rejimlerini ve kümenin dürüst yorumunu tek ekranda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00" b="1">
                <a:solidFill>
                  <a:srgbClr val="127145"/>
                </a:solidFill>
                <a:latin typeface="Helvetica Neue"/>
              </a:rPr>
              <a:t>TREXCLOUD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4000" b="1">
                <a:solidFill>
                  <a:srgbClr val="1A1F1D"/>
                </a:solidFill>
                <a:latin typeface="Helvetica Neue"/>
              </a:rPr>
              <a:t>Öngörücü OEE &amp; Kök-Neden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>
                <a:solidFill>
                  <a:srgbClr val="6B7771"/>
                </a:solidFill>
                <a:latin typeface="Helvetica Neue"/>
              </a:rPr>
              <a:t>Bir CNC + lazer tesisi için uçtan uca tahmin, kök-neden ve What-If sistemi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9160"/>
            <a:ext cx="2011680" cy="18288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6B7771"/>
                </a:solidFill>
                <a:latin typeface="Helvetica Neue"/>
              </a:rPr>
              <a:t>Veri dönemi: Ağustos 2025 – Mayıs 2026  ·  12 makine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YAKLAŞIM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Hedef: değerlendirmenin en üst iki seviyesi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>
                <a:solidFill>
                  <a:srgbClr val="1A1F1D"/>
                </a:solidFill>
                <a:latin typeface="Helvetica Neue"/>
              </a:rPr>
              <a:t>Değerlendirme dört seviyeli. Bronz ve Gümüş bizde temel; odağımız Altın ve Platin.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34640"/>
            <a:ext cx="2453563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34640"/>
            <a:ext cx="2453563" cy="109728"/>
          </a:xfrm>
          <a:prstGeom prst="rect">
            <a:avLst/>
          </a:prstGeom>
          <a:solidFill>
            <a:srgbClr val="A97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154680"/>
            <a:ext cx="21243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1A1F1D"/>
                </a:solidFill>
                <a:latin typeface="Helvetica Neue"/>
              </a:rPr>
              <a:t>BRONZ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80"/>
            <a:ext cx="21243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50" b="0">
                <a:solidFill>
                  <a:srgbClr val="6B7771"/>
                </a:solidFill>
                <a:latin typeface="Helvetica Neue"/>
              </a:rPr>
              <a:t>Alarm ve duruşları zaman aralığında listele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5123" y="2834640"/>
            <a:ext cx="2453563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5123" y="2834640"/>
            <a:ext cx="2453563" cy="109728"/>
          </a:xfrm>
          <a:prstGeom prst="rect">
            <a:avLst/>
          </a:prstGeom>
          <a:solidFill>
            <a:srgbClr val="8A96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9715" y="3154680"/>
            <a:ext cx="21243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1A1F1D"/>
                </a:solidFill>
                <a:latin typeface="Helvetica Neue"/>
              </a:rPr>
              <a:t>GÜMÜŞ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9715" y="3611880"/>
            <a:ext cx="21243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50" b="0">
                <a:solidFill>
                  <a:srgbClr val="6B7771"/>
                </a:solidFill>
                <a:latin typeface="Helvetica Neue"/>
              </a:rPr>
              <a:t>Alarmları duruşlarla eşleştir, Pareto çıkar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2834640"/>
            <a:ext cx="2453563" cy="2468880"/>
          </a:xfrm>
          <a:prstGeom prst="rect">
            <a:avLst/>
          </a:prstGeom>
          <a:solidFill>
            <a:srgbClr val="ECF4EF"/>
          </a:solidFill>
          <a:ln w="1905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2834640"/>
            <a:ext cx="2453563" cy="109728"/>
          </a:xfrm>
          <a:prstGeom prst="rect">
            <a:avLst/>
          </a:prstGeom>
          <a:solidFill>
            <a:srgbClr val="C9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154680"/>
            <a:ext cx="21243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1A1F1D"/>
                </a:solidFill>
                <a:latin typeface="Helvetica Neue"/>
              </a:rPr>
              <a:t>ALTIN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599" y="3611880"/>
            <a:ext cx="21243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50" b="0">
                <a:solidFill>
                  <a:srgbClr val="1A1F1D"/>
                </a:solidFill>
                <a:latin typeface="Helvetica Neue"/>
              </a:rPr>
              <a:t>Baseline sapma + çok-sinyal → nedensellik zinciri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4892040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50" b="1">
                <a:solidFill>
                  <a:srgbClr val="127145"/>
                </a:solidFill>
                <a:latin typeface="Helvetica Neue"/>
              </a:rPr>
              <a:t>HEDEF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0891" y="2834640"/>
            <a:ext cx="2453563" cy="2468880"/>
          </a:xfrm>
          <a:prstGeom prst="rect">
            <a:avLst/>
          </a:prstGeom>
          <a:solidFill>
            <a:srgbClr val="ECF4EF"/>
          </a:solidFill>
          <a:ln w="1905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0891" y="2834640"/>
            <a:ext cx="2453563" cy="109728"/>
          </a:xfrm>
          <a:prstGeom prst="rect">
            <a:avLst/>
          </a:prstGeom>
          <a:solidFill>
            <a:srgbClr val="2F8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483" y="3154680"/>
            <a:ext cx="21243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1">
                <a:solidFill>
                  <a:srgbClr val="1A1F1D"/>
                </a:solidFill>
                <a:latin typeface="Helvetica Neue"/>
              </a:rPr>
              <a:t>PLATİN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483" y="3611880"/>
            <a:ext cx="21243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50" b="0">
                <a:solidFill>
                  <a:srgbClr val="1A1F1D"/>
                </a:solidFill>
                <a:latin typeface="Helvetica Neue"/>
              </a:rPr>
              <a:t>Çapraz-makine örüntü + ΔOEE + finansal öneri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483" y="4892040"/>
            <a:ext cx="2124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50" b="1">
                <a:solidFill>
                  <a:srgbClr val="127145"/>
                </a:solidFill>
                <a:latin typeface="Helvetica Neue"/>
              </a:rPr>
              <a:t>HEDEF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VERI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Önce veriyi dürüstçe envanterledik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95020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12 makine, yaklaşık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7,4 milyon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telemetri kaydı; cp1254 kodlama, UTC, milisaniye.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Dokümanın vaat ettiği kanıt sinyalleri (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servo sıcaklık, path-load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) pratikte boş: en yoğun makinede bile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0 / 28 satır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Gerçekte akan sinyaller: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cycle_time, run_state, run_time, axis_position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. Nightwatch–MES eşleşmesi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162 / 162 (%100)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754880"/>
            <a:ext cx="10637215" cy="960120"/>
          </a:xfrm>
          <a:prstGeom prst="rect">
            <a:avLst/>
          </a:prstGeom>
          <a:solidFill>
            <a:srgbClr val="ECF4EF"/>
          </a:solidFill>
          <a:ln w="1524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8348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0">
                <a:solidFill>
                  <a:srgbClr val="1A1F1D"/>
                </a:solidFill>
                <a:latin typeface="Helvetica Neue"/>
              </a:rPr>
              <a:t>Modeli dokümanın değil, gerçekten akan sinyallerin üzerine kurduk. Jüri veriyi iyi bilir; dürüst envanter güven kazandırır.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MIMARI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Uçtan uca 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17982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Kanonik sinyal</a:t>
            </a:r>
          </a:p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katmanı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48651" y="3246120"/>
            <a:ext cx="274320" cy="36576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86979" y="2743200"/>
            <a:ext cx="17982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8419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Baseline sapma</a:t>
            </a:r>
          </a:p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(AD)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58390" y="3246120"/>
            <a:ext cx="274320" cy="36576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96718" y="2743200"/>
            <a:ext cx="17982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8158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Kök-neden</a:t>
            </a:r>
          </a:p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(RCA)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68129" y="3246120"/>
            <a:ext cx="274320" cy="36576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2743200"/>
            <a:ext cx="17982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A1F1D"/>
                </a:solidFill>
                <a:latin typeface="Helvetica Neue"/>
              </a:rPr>
              <a:t>What-If / OEE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77868" y="3246120"/>
            <a:ext cx="274320" cy="36576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16196" y="2743200"/>
            <a:ext cx="1798259" cy="1371600"/>
          </a:xfrm>
          <a:prstGeom prst="roundRect">
            <a:avLst/>
          </a:prstGeom>
          <a:solidFill>
            <a:srgbClr val="ECF4EF"/>
          </a:solidFill>
          <a:ln w="1905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7636" y="2743200"/>
            <a:ext cx="1615379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127145"/>
                </a:solidFill>
                <a:latin typeface="Helvetica Neue"/>
              </a:rPr>
              <a:t>Tahmin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5488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0">
                <a:solidFill>
                  <a:srgbClr val="6B7771"/>
                </a:solidFill>
                <a:latin typeface="Helvetica Neue"/>
              </a:rPr>
              <a:t>Vendor-bağımsız rol haritası çapraz-makineyi mümkün kılar: Fanuc IsNotRunning ile Mitsubishi RUN_STATUS_START aynı role eşlenir.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44068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0">
                <a:solidFill>
                  <a:srgbClr val="1A1F1D"/>
                </a:solidFill>
                <a:latin typeface="Helvetica Neue"/>
              </a:rPr>
              <a:t>Rejim ayrımı:  </a:t>
            </a:r>
            <a:r>
              <a:rPr sz="1350" b="1">
                <a:solidFill>
                  <a:srgbClr val="1A1F1D"/>
                </a:solidFill>
                <a:latin typeface="Helvetica Neue"/>
              </a:rPr>
              <a:t>Fanuc {1,2,3,5,9}</a:t>
            </a:r>
            <a:r>
              <a:rPr sz="1350" b="0">
                <a:solidFill>
                  <a:srgbClr val="1A1F1D"/>
                </a:solidFill>
                <a:latin typeface="Helvetica Neue"/>
              </a:rPr>
              <a:t>   ·   </a:t>
            </a:r>
            <a:r>
              <a:rPr sz="1350" b="1">
                <a:solidFill>
                  <a:srgbClr val="1A1F1D"/>
                </a:solidFill>
                <a:latin typeface="Helvetica Neue"/>
              </a:rPr>
              <a:t>Mitsubishi {7,8}</a:t>
            </a:r>
            <a:r>
              <a:rPr sz="1350" b="0">
                <a:solidFill>
                  <a:srgbClr val="1A1F1D"/>
                </a:solidFill>
                <a:latin typeface="Helvetica Neue"/>
              </a:rPr>
              <a:t>   ·   telemetrisiz {4,6,10, TurboCut, ARES}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BRONZ · GÜMÜŞ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Temel: olay akışı, eşleştirme,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95020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Alarm, duruş, bağlantı kesintisi ve sapma olayları tek bir akışta birleşik.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Alarmlar duruşlara zaman damgasıyla eşleştirildi (ileri yönlü asof).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Pareto, duruşu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arıza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ve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bağlantı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olarak ayırır — yatırım kararını bu ayrım belirler.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754880"/>
            <a:ext cx="10637215" cy="960120"/>
          </a:xfrm>
          <a:prstGeom prst="rect">
            <a:avLst/>
          </a:prstGeom>
          <a:solidFill>
            <a:srgbClr val="ECF4EF"/>
          </a:solidFill>
          <a:ln w="1524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8348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0">
                <a:solidFill>
                  <a:srgbClr val="1A1F1D"/>
                </a:solidFill>
                <a:latin typeface="Helvetica Neue"/>
              </a:rPr>
              <a:t>En büyük duruş kaynağı bir makine arızası değil, bağlantı kesintisidir (System Offline). Bunu ayırmazsanız yanlış yere yatırım yaparsınız.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ALTIN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Baseline sapma + çok-sinyal → nedensellik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6B7771"/>
                </a:solidFill>
                <a:latin typeface="Helvetica Neue"/>
              </a:rPr>
              <a:t>Örnek olay:  Makine 1  ·  12 Ocak 2026, 04:47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291840" cy="822960"/>
          </a:xfrm>
          <a:prstGeom prst="roundRect">
            <a:avLst/>
          </a:prstGeom>
          <a:solidFill>
            <a:srgbClr val="ECF4EF"/>
          </a:solidFill>
          <a:ln w="1905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3291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27145"/>
                </a:solidFill>
                <a:latin typeface="Helvetica Neue"/>
              </a:rPr>
              <a:t>AIR PRESSURE FAILED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27145"/>
                </a:solidFill>
                <a:latin typeface="Helvetica Neue"/>
              </a:rPr>
              <a:t>kök neden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06240" y="2944368"/>
            <a:ext cx="411480" cy="411480"/>
          </a:xfrm>
          <a:prstGeom prst="rightArrow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79" y="2697480"/>
            <a:ext cx="32918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697480"/>
            <a:ext cx="3291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A1F1D"/>
                </a:solidFill>
                <a:latin typeface="Helvetica Neue"/>
              </a:rPr>
              <a:t>Z-AXIS ZERO RETURN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A1F1D"/>
                </a:solidFill>
                <a:latin typeface="Helvetica Neue"/>
              </a:rPr>
              <a:t>sonuç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0637215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Baseline sapma imzası (robust-z): 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run_state −7,7σ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(makine duruyor),  cycle_time −0,8σ.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Alarmlar dizine göre değil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nedensel önceliğe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göre sıralanır: kök neden hava basıncı, Z-ekseni hatası sonuçtur.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5780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6B7771"/>
                </a:solidFill>
                <a:latin typeface="Helvetica Neue"/>
              </a:rPr>
              <a:t>Dürüst not: bu olayda sapma eşzamanlı kanıttır, öngörücü bir öncül değildir.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TAHMIN · DEĞER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ROC / lift katmanından OEE ve €'ya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23744"/>
            <a:ext cx="24878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3000" b="1">
                <a:solidFill>
                  <a:srgbClr val="127145"/>
                </a:solidFill>
                <a:latin typeface="Helvetica Neue"/>
              </a:rPr>
              <a:t>0,73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127248"/>
            <a:ext cx="23415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6B7771"/>
                </a:solidFill>
                <a:latin typeface="Helvetica Neue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233172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693" y="2523744"/>
            <a:ext cx="24878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3000" b="1">
                <a:solidFill>
                  <a:srgbClr val="127145"/>
                </a:solidFill>
                <a:latin typeface="Helvetica Neue"/>
              </a:rPr>
              <a:t>2,38×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845" y="3127248"/>
            <a:ext cx="23415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6B7771"/>
                </a:solidFill>
                <a:latin typeface="Helvetica Neue"/>
              </a:rPr>
              <a:t>taban-üstü kazanç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233172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0147" y="2523744"/>
            <a:ext cx="24878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3000" b="1">
                <a:solidFill>
                  <a:srgbClr val="127145"/>
                </a:solidFill>
                <a:latin typeface="Helvetica Neue"/>
              </a:rPr>
              <a:t>%69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3299" y="3127248"/>
            <a:ext cx="23415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6B7771"/>
                </a:solidFill>
                <a:latin typeface="Helvetica Neue"/>
              </a:rPr>
              <a:t>duruş yakalama · held-out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233172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6601" y="2523744"/>
            <a:ext cx="248785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3000" b="1">
                <a:solidFill>
                  <a:srgbClr val="127145"/>
                </a:solidFill>
                <a:latin typeface="Helvetica Neue"/>
              </a:rPr>
              <a:t>+10,44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9753" y="3127248"/>
            <a:ext cx="23415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6B7771"/>
                </a:solidFill>
                <a:latin typeface="Helvetica Neue"/>
              </a:rPr>
              <a:t>puan OEE · e=%35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10637215" cy="21488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Gerçek held-out ölçüm: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364/527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duruş yakalandı;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722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alarm döneminin isabeti %44.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e=%35 varsayımıyla yıllık projeksiyon: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2330 saat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; fakat 300 €/kontrol varsayımında net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-512,666 €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166360"/>
            <a:ext cx="10637215" cy="658368"/>
          </a:xfrm>
          <a:prstGeom prst="rect">
            <a:avLst/>
          </a:prstGeom>
          <a:solidFill>
            <a:srgbClr val="ECF4EF"/>
          </a:solidFill>
          <a:ln w="1524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5330952"/>
            <a:ext cx="10234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0">
                <a:solidFill>
                  <a:srgbClr val="1A1F1D"/>
                </a:solidFill>
                <a:latin typeface="Helvetica Neue"/>
              </a:rPr>
              <a:t>Ekonomik duyarlılık (retrospektif): eşik 0.78 → 33 kontrol → 11,013 €/yıl net. Canlı eşiğin yerine geçmez.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PLATIN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Çapraz-makine örüntüleri — null-model 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A1F1D"/>
                </a:solidFill>
                <a:latin typeface="Helvetica Neue"/>
              </a:rPr>
              <a:t>≥2 makinenin aynı saatte plansız duruşa girmesi — şansın ve vardiya ritminin ötesinde 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6207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F1D"/>
                </a:solidFill>
                <a:latin typeface="Helvetica Neue"/>
              </a:rPr>
              <a:t>Gözlemlenen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2880360"/>
            <a:ext cx="5281381" cy="36576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84701" y="287121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1A1F1D"/>
                </a:solidFill>
                <a:latin typeface="Helvetica Neue"/>
              </a:rPr>
              <a:t>708 saat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F1D"/>
                </a:solidFill>
                <a:latin typeface="Helvetica Neue"/>
              </a:rPr>
              <a:t>Beklenen (saat-içi ritim)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3447288"/>
            <a:ext cx="4207202" cy="365760"/>
          </a:xfrm>
          <a:prstGeom prst="rect">
            <a:avLst/>
          </a:prstGeom>
          <a:solidFill>
            <a:srgbClr val="6B77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0522" y="34381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1A1F1D"/>
                </a:solidFill>
                <a:latin typeface="Helvetica Neue"/>
              </a:rPr>
              <a:t>564 saat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959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A1F1D"/>
                </a:solidFill>
                <a:latin typeface="Helvetica Neue"/>
              </a:rPr>
              <a:t>Beklenen (rastgele)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4014215"/>
            <a:ext cx="2484039" cy="365760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7359" y="400507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1A1F1D"/>
                </a:solidFill>
                <a:latin typeface="Helvetica Neue"/>
              </a:rPr>
              <a:t>333 saat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A1F1D"/>
                </a:solidFill>
                <a:latin typeface="Helvetica Neue"/>
              </a:rPr>
              <a:t>Sonuç:  </a:t>
            </a:r>
            <a:r>
              <a:rPr sz="1400" b="1">
                <a:solidFill>
                  <a:srgbClr val="1A1F1D"/>
                </a:solidFill>
                <a:latin typeface="Helvetica Neue"/>
              </a:rPr>
              <a:t>z = 5,16, p &lt; 0,001</a:t>
            </a:r>
            <a:r>
              <a:rPr sz="1400" b="0">
                <a:solidFill>
                  <a:srgbClr val="1A1F1D"/>
                </a:solidFill>
                <a:latin typeface="Helvetica Neue"/>
              </a:rPr>
              <a:t> — senkronizasyon, ortak vardiya programıyla açıklanamıyor.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12080"/>
            <a:ext cx="10637215" cy="82295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Eski yöntemin 1 numaralı ‘sistemik’ bulgusu (bağlantı) bir kayıt tekrarıydı; ayıkladık.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Eşleşen küme {1,2,3,9} ortak bir çalışma ritmidir — eşzamanlı arıza yayılımı değil (dürüst okuma).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PLATIN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İncelenebilir senaryo kataloğu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379476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3611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Senaryo / kapsam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148840"/>
            <a:ext cx="96012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258568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ΔA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2148840"/>
            <a:ext cx="96012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59" y="2258568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ΔP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48840"/>
            <a:ext cx="105156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2258568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ΔOEE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2148840"/>
            <a:ext cx="109728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2258568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Saat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148840"/>
            <a:ext cx="1417320" cy="4114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19" y="2258568"/>
            <a:ext cx="1234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Helvetica Neue"/>
              </a:rPr>
              <a:t>Net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606040"/>
            <a:ext cx="379476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743200"/>
            <a:ext cx="3611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S1 · Makine 1 · En büyük plansız duruş kalemi -%30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2606040"/>
            <a:ext cx="96012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2743200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17,99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2606040"/>
            <a:ext cx="96012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2743200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0,00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606040"/>
            <a:ext cx="105156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2743200"/>
            <a:ext cx="8686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17,99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606040"/>
            <a:ext cx="109728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2743200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625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2606040"/>
            <a:ext cx="1417320" cy="548640"/>
          </a:xfrm>
          <a:prstGeom prst="rect">
            <a:avLst/>
          </a:prstGeom>
          <a:solidFill>
            <a:srgbClr val="ECF4E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19" y="2743200"/>
            <a:ext cx="12344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1">
                <a:solidFill>
                  <a:srgbClr val="127145"/>
                </a:solidFill>
                <a:latin typeface="Helvetica Neue"/>
              </a:rPr>
              <a:t>6,614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227832"/>
            <a:ext cx="37947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364992"/>
            <a:ext cx="3611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S2 · Makine 2 · 8 saat plansız -&gt; planlı bakım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3227832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3364992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0,32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3227832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23559" y="3364992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3227832"/>
            <a:ext cx="10515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79" y="3364992"/>
            <a:ext cx="8686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0,32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43800" y="3227832"/>
            <a:ext cx="109728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3364992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41080" y="3227832"/>
            <a:ext cx="14173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19" y="3364992"/>
            <a:ext cx="12344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-300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3849624"/>
            <a:ext cx="37947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3986784"/>
            <a:ext cx="3611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S3 · Makine 4 · Performans/çevrim +%10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3849624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0" y="3986784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32120" y="3849624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23559" y="3986784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849624"/>
            <a:ext cx="10515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79" y="3986784"/>
            <a:ext cx="8686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43800" y="3849624"/>
            <a:ext cx="109728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5240" y="3986784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41080" y="3849624"/>
            <a:ext cx="14173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32519" y="3986784"/>
            <a:ext cx="12344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-300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7240" y="4471416"/>
            <a:ext cx="37947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4608576"/>
            <a:ext cx="3611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S4 · PLANT · Tesis genelinde bağlantı düzeltildi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4471416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63440" y="4608576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32120" y="4471416"/>
            <a:ext cx="9601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59" y="4608576"/>
            <a:ext cx="7772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4471416"/>
            <a:ext cx="105156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79" y="4608576"/>
            <a:ext cx="8686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0,00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4471416"/>
            <a:ext cx="109728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35240" y="4608576"/>
            <a:ext cx="9144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663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41080" y="4471416"/>
            <a:ext cx="1417320" cy="548640"/>
          </a:xfrm>
          <a:prstGeom prst="rect">
            <a:avLst/>
          </a:prstGeom>
          <a:solidFill>
            <a:srgbClr val="FFFFFF"/>
          </a:solidFill>
          <a:ln w="8890">
            <a:solidFill>
              <a:srgbClr val="D9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32519" y="4608576"/>
            <a:ext cx="12344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1050" b="0">
                <a:solidFill>
                  <a:srgbClr val="1A1F1D"/>
                </a:solidFill>
                <a:latin typeface="Helvetica Neue"/>
              </a:rPr>
              <a:t>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" y="5285232"/>
            <a:ext cx="10637215" cy="566928"/>
          </a:xfrm>
          <a:prstGeom prst="rect">
            <a:avLst/>
          </a:prstGeom>
          <a:solidFill>
            <a:srgbClr val="ECF4EF"/>
          </a:solidFill>
          <a:ln w="1524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408" y="5422392"/>
            <a:ext cx="1023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1A1F1D"/>
                </a:solidFill>
                <a:latin typeface="Helvetica Neue"/>
              </a:rPr>
              <a:t>S2 yalnız sınıflandırmayı değiştirir; S3 üretim sayımı olmadığı için inerttir; S4 IT aksiyonudur ve makine OEE'sine yazılmaz. Tüm € değerleri VARSAYIM.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SINIRLAR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Neyi tahmin edemeyeceğimizi de biliyoruz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95020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3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Kondisyon sinyalleri (sıcaklık, yük) boş → tahminin tavanını model değil, </a:t>
            </a:r>
            <a:r>
              <a:rPr sz="1600" b="1">
                <a:solidFill>
                  <a:srgbClr val="1A1F1D"/>
                </a:solidFill>
                <a:latin typeface="Helvetica Neue"/>
              </a:rPr>
              <a:t>veri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 belirler.</a:t>
            </a:r>
          </a:p>
          <a:p>
            <a:pPr>
              <a:lnSpc>
                <a:spcPct val="116000"/>
              </a:lnSpc>
              <a:spcAft>
                <a:spcPts val="13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Mitsubishi 60 dk’da %53 duruş: tahmin doygun. 30 dk ufkunda zayıf ama mevcut; makineler atılmadı.</a:t>
            </a:r>
          </a:p>
          <a:p>
            <a:pPr>
              <a:lnSpc>
                <a:spcPct val="116000"/>
              </a:lnSpc>
              <a:spcAft>
                <a:spcPts val="13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Plansız duruşlar tek etiket taşır → ‘ne / ne zaman’ var, ‘neden’ yalnız Makine 1 ve 2’de.</a:t>
            </a:r>
          </a:p>
          <a:p>
            <a:pPr>
              <a:lnSpc>
                <a:spcPct val="116000"/>
              </a:lnSpc>
              <a:spcAft>
                <a:spcPts val="13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Kalite kaydı yok → Q simüle edilir; üretimsiz günlerde P doğal olarak sıfır.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Dürüst, çalışan, uçtan uca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84831"/>
            <a:ext cx="10637215" cy="395020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Dört seviye de kapsandı; en üst ikisi — Altın ve Platin — güçlü biçimde karşılandı.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Tek akışta: duruş tahmini (Fanuc 2,38×) + kök-neden (kaskad) + sayısal ΔOEE / € önerisi.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60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600" b="0">
                <a:solidFill>
                  <a:srgbClr val="1A1F1D"/>
                </a:solidFill>
                <a:latin typeface="Helvetica Neue"/>
              </a:rPr>
              <a:t>Sonraki adım: makine-bazlı olasılık kalibrasyonu, Mitsubishi için kısa-ufuk hedef.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892040"/>
            <a:ext cx="10637215" cy="868680"/>
          </a:xfrm>
          <a:prstGeom prst="rect">
            <a:avLst/>
          </a:prstGeom>
          <a:solidFill>
            <a:srgbClr val="1A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92040"/>
            <a:ext cx="1018001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Helvetica Neue"/>
              </a:rPr>
              <a:t>Tahmin eder, açıklar, sayısallaştırır — ve filodaki her makine için neden öyle davrandığımızı biliriz.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CANLI ARAYÜZ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Genel Bakış — tesis ve makine resmi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12</a:t>
            </a:r>
          </a:p>
        </p:txBody>
      </p:sp>
      <p:pic>
        <p:nvPicPr>
          <p:cNvPr id="8" name="Picture 7" descr="overview_fl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10021"/>
            <a:ext cx="7269480" cy="37272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75320" y="1993392"/>
            <a:ext cx="3136392" cy="4160520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2267712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127145"/>
                </a:solidFill>
                <a:latin typeface="Helvetica Neue"/>
              </a:rPr>
              <a:t>NASIL OKUNUR?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743200"/>
            <a:ext cx="2651760" cy="32918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50" b="1">
                <a:solidFill>
                  <a:srgbClr val="1A1F1D"/>
                </a:solidFill>
                <a:latin typeface="Helvetica Neue"/>
              </a:rPr>
              <a:t>Üst KPI'lar:</a:t>
            </a:r>
            <a:r>
              <a:rPr sz="1150" b="0">
                <a:solidFill>
                  <a:srgbClr val="1A1F1D"/>
                </a:solidFill>
                <a:latin typeface="Helvetica Neue"/>
              </a:rPr>
              <a:t> tesis OEE'si, toplam plansız duruş ve Fanuc tahmin lift'i.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50" b="1">
                <a:solidFill>
                  <a:srgbClr val="1A1F1D"/>
                </a:solidFill>
                <a:latin typeface="Helvetica Neue"/>
              </a:rPr>
              <a:t>Makine kartları:</a:t>
            </a:r>
            <a:r>
              <a:rPr sz="1150" b="0">
                <a:solidFill>
                  <a:srgbClr val="1A1F1D"/>
                </a:solidFill>
                <a:latin typeface="Helvetica Neue"/>
              </a:rPr>
              <a:t> renk rejimi, yüzde OEE'yi; alt satır duruş saatini gösterir.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50" b="1">
                <a:solidFill>
                  <a:srgbClr val="1A1F1D"/>
                </a:solidFill>
                <a:latin typeface="Helvetica Neue"/>
              </a:rPr>
              <a:t>Sağ panel:</a:t>
            </a:r>
            <a:r>
              <a:rPr sz="1150" b="0">
                <a:solidFill>
                  <a:srgbClr val="1A1F1D"/>
                </a:solidFill>
                <a:latin typeface="Helvetica Neue"/>
              </a:rPr>
              <a:t> seçilen makinenin A/P/Q ayrışımı ve modelleme rejimi.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CANLI ARAYÜZ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Pareto — arıza ile bağlantıyı ayır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13</a:t>
            </a:r>
          </a:p>
        </p:txBody>
      </p:sp>
      <p:pic>
        <p:nvPicPr>
          <p:cNvPr id="8" name="Picture 7" descr="overview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67711"/>
            <a:ext cx="7543800" cy="2606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49640" y="2084831"/>
            <a:ext cx="2862072" cy="2971800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233172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127145"/>
                </a:solidFill>
                <a:latin typeface="Helvetica Neue"/>
              </a:rPr>
              <a:t>KARAR MESAJI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788920"/>
            <a:ext cx="2331720" cy="3246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50" b="1">
                <a:solidFill>
                  <a:srgbClr val="1A1F1D"/>
                </a:solidFill>
                <a:latin typeface="Helvetica Neue"/>
              </a:rPr>
              <a:t>Kırmızı:</a:t>
            </a:r>
            <a:r>
              <a:rPr sz="1150" b="0">
                <a:solidFill>
                  <a:srgbClr val="1A1F1D"/>
                </a:solidFill>
                <a:latin typeface="Helvetica Neue"/>
              </a:rPr>
              <a:t> giderilebilir makine duruşu.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50" b="1">
                <a:solidFill>
                  <a:srgbClr val="1A1F1D"/>
                </a:solidFill>
                <a:latin typeface="Helvetica Neue"/>
              </a:rPr>
              <a:t>Gri:</a:t>
            </a:r>
            <a:r>
              <a:rPr sz="1150" b="0">
                <a:solidFill>
                  <a:srgbClr val="1A1F1D"/>
                </a:solidFill>
                <a:latin typeface="Helvetica Neue"/>
              </a:rPr>
              <a:t> System Offline; IT/ağ sahipliğinde.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50" b="0">
                <a:solidFill>
                  <a:srgbClr val="1A1F1D"/>
                </a:solidFill>
                <a:latin typeface="Helvetica Neue"/>
              </a:rPr>
              <a:t>TurboCut büyük kayıp kaynağıdır fakat telemetrisi yoktur.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285232"/>
            <a:ext cx="10637215" cy="566928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431536"/>
            <a:ext cx="1023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1A1F1D"/>
                </a:solidFill>
                <a:latin typeface="Helvetica Neue"/>
              </a:rPr>
              <a:t>Sunum cümlesi: “Bağlantı kaybını makine arızası sayarsak yanlış ekibe ve yanlış yatırıma gideriz.”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CANLI ARAYÜZ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Tahmin — risk zaman çizgisi ve gerçek duruşlar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14</a:t>
            </a:r>
          </a:p>
        </p:txBody>
      </p:sp>
      <p:pic>
        <p:nvPicPr>
          <p:cNvPr id="8" name="Picture 7" descr="predict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99" y="1965960"/>
            <a:ext cx="7338680" cy="43708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49640" y="1965960"/>
            <a:ext cx="2862072" cy="4370832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224028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127145"/>
                </a:solidFill>
                <a:latin typeface="Helvetica Neue"/>
              </a:rPr>
              <a:t>NE GÖSTERİYOR?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697480"/>
            <a:ext cx="2331720" cy="3337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3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30" b="1">
                <a:solidFill>
                  <a:srgbClr val="1A1F1D"/>
                </a:solidFill>
                <a:latin typeface="Helvetica Neue"/>
              </a:rPr>
              <a:t>Yeşil çizgi:</a:t>
            </a:r>
            <a:r>
              <a:rPr sz="1130" b="0">
                <a:solidFill>
                  <a:srgbClr val="1A1F1D"/>
                </a:solidFill>
                <a:latin typeface="Helvetica Neue"/>
              </a:rPr>
              <a:t> modelin duruş riski.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3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30" b="1">
                <a:solidFill>
                  <a:srgbClr val="1A1F1D"/>
                </a:solidFill>
                <a:latin typeface="Helvetica Neue"/>
              </a:rPr>
              <a:t>Kırmızı kesik:</a:t>
            </a:r>
            <a:r>
              <a:rPr sz="1130" b="0">
                <a:solidFill>
                  <a:srgbClr val="1A1F1D"/>
                </a:solidFill>
                <a:latin typeface="Helvetica Neue"/>
              </a:rPr>
              <a:t> denetlenen alarm eşiği 0,1778.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3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30" b="1">
                <a:solidFill>
                  <a:srgbClr val="1A1F1D"/>
                </a:solidFill>
                <a:latin typeface="Helvetica Neue"/>
              </a:rPr>
              <a:t>Kırmızı çarpılar:</a:t>
            </a:r>
            <a:r>
              <a:rPr sz="1130" b="0">
                <a:solidFill>
                  <a:srgbClr val="1A1F1D"/>
                </a:solidFill>
                <a:latin typeface="Helvetica Neue"/>
              </a:rPr>
              <a:t> gerçekleşen ≥15 dk plansız duruşlar.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3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30" b="0">
                <a:solidFill>
                  <a:srgbClr val="1A1F1D"/>
                </a:solidFill>
                <a:latin typeface="Helvetica Neue"/>
              </a:rPr>
              <a:t>Alt kutular, yüksek-risk dönemlerini inceleme sırasına koyar.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CANLI ARAYÜZ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Kök-Neden — alarm kaskadından aksiyona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15</a:t>
            </a:r>
          </a:p>
        </p:txBody>
      </p:sp>
      <p:pic>
        <p:nvPicPr>
          <p:cNvPr id="8" name="Picture 7" descr="predict_r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92564"/>
            <a:ext cx="7543800" cy="277345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49640" y="2084831"/>
            <a:ext cx="2862072" cy="2788920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233172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127145"/>
                </a:solidFill>
                <a:latin typeface="Helvetica Neue"/>
              </a:rPr>
              <a:t>ALTIN AKIŞI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743200"/>
            <a:ext cx="2331720" cy="32918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3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30" b="0">
                <a:solidFill>
                  <a:srgbClr val="1A1F1D"/>
                </a:solidFill>
                <a:latin typeface="Helvetica Neue"/>
              </a:rPr>
              <a:t>Kaskad nedensel önceliğe göre sıralanır.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3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30" b="1">
                <a:solidFill>
                  <a:srgbClr val="1A1F1D"/>
                </a:solidFill>
                <a:latin typeface="Helvetica Neue"/>
              </a:rPr>
              <a:t>AIR PRESSURE</a:t>
            </a:r>
            <a:r>
              <a:rPr sz="1130" b="0">
                <a:solidFill>
                  <a:srgbClr val="1A1F1D"/>
                </a:solidFill>
                <a:latin typeface="Helvetica Neue"/>
              </a:rPr>
              <a:t> kök neden; Z-axis alarmı sonuçtur.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3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30" b="0">
                <a:solidFill>
                  <a:srgbClr val="1A1F1D"/>
                </a:solidFill>
                <a:latin typeface="Helvetica Neue"/>
              </a:rPr>
              <a:t>Telemetri ve hipotezler önerilen aksiyonu destekler.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193792"/>
            <a:ext cx="10637215" cy="658368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349240"/>
            <a:ext cx="1023487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1A1F1D"/>
                </a:solidFill>
                <a:latin typeface="Helvetica Neue"/>
              </a:rPr>
              <a:t>Sunum cümlesi: “Model yalnız alarm vermiyor; alarmı kanıt, hipotez ve uygulanabilir aksiyona çeviriyor.”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CANLI ARAYÜZ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Kestirimci bakım değeri ve What-If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16</a:t>
            </a:r>
          </a:p>
        </p:txBody>
      </p:sp>
      <p:pic>
        <p:nvPicPr>
          <p:cNvPr id="8" name="Picture 7" descr="predict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73" y="1965960"/>
            <a:ext cx="6777532" cy="1993392"/>
          </a:xfrm>
          <a:prstGeom prst="rect">
            <a:avLst/>
          </a:prstGeom>
        </p:spPr>
      </p:pic>
      <p:pic>
        <p:nvPicPr>
          <p:cNvPr id="9" name="Picture 8" descr="predict_wha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578" y="4133087"/>
            <a:ext cx="7174523" cy="2057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965960"/>
            <a:ext cx="3090672" cy="4224528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9640" y="224028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127145"/>
                </a:solidFill>
                <a:latin typeface="Helvetica Neue"/>
              </a:rPr>
              <a:t>İKİ FARKLI HESAP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697480"/>
            <a:ext cx="2606040" cy="3337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15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15" b="1">
                <a:solidFill>
                  <a:srgbClr val="1A1F1D"/>
                </a:solidFill>
                <a:latin typeface="Helvetica Neue"/>
              </a:rPr>
              <a:t>Üst panel:</a:t>
            </a:r>
            <a:r>
              <a:rPr sz="1115" b="0">
                <a:solidFill>
                  <a:srgbClr val="1A1F1D"/>
                </a:solidFill>
                <a:latin typeface="Helvetica Neue"/>
              </a:rPr>
              <a:t> yalnız modelin yakaladığı duruşlara atfedilen OEE/€.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15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15" b="0">
                <a:solidFill>
                  <a:srgbClr val="1A1F1D"/>
                </a:solidFill>
                <a:latin typeface="Helvetica Neue"/>
              </a:rPr>
              <a:t>Etkililik ve maliyetler varsayımdır; recall/precision held-out ölçümdür.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15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15" b="1">
                <a:solidFill>
                  <a:srgbClr val="1A1F1D"/>
                </a:solidFill>
                <a:latin typeface="Helvetica Neue"/>
              </a:rPr>
              <a:t>Alt panel:</a:t>
            </a:r>
            <a:r>
              <a:rPr sz="1115" b="0">
                <a:solidFill>
                  <a:srgbClr val="1A1F1D"/>
                </a:solidFill>
                <a:latin typeface="Helvetica Neue"/>
              </a:rPr>
              <a:t> kullanıcı seçtiği duruş azaltımını genel What-If motorunda simüle eder.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15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15" b="0">
                <a:solidFill>
                  <a:srgbClr val="1A1F1D"/>
                </a:solidFill>
                <a:latin typeface="Helvetica Neue"/>
              </a:rPr>
              <a:t>Negatif ROI saklanmaz; alarm maliyeti her gerçek/yanlış alarm için yazılır.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CANLI ARAYÜZ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Senaryo kataloğu — sonuçlar denetlenebilir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17</a:t>
            </a:r>
          </a:p>
        </p:txBody>
      </p:sp>
      <p:pic>
        <p:nvPicPr>
          <p:cNvPr id="8" name="Picture 7" descr="predict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69" y="2057400"/>
            <a:ext cx="7710220" cy="226771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641080" y="2057400"/>
            <a:ext cx="2770632" cy="2267712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2304288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127145"/>
                </a:solidFill>
                <a:latin typeface="Helvetica Neue"/>
              </a:rPr>
              <a:t>TABLO NE İŞE YARAR?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97480"/>
            <a:ext cx="2240280" cy="3337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2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20" b="0">
                <a:solidFill>
                  <a:srgbClr val="1A1F1D"/>
                </a:solidFill>
                <a:latin typeface="Helvetica Neue"/>
              </a:rPr>
              <a:t>ΔA / ΔP / ΔQ / ΔOEE birlikte görünür.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2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20" b="0">
                <a:solidFill>
                  <a:srgbClr val="1A1F1D"/>
                </a:solidFill>
                <a:latin typeface="Helvetica Neue"/>
              </a:rPr>
              <a:t>Runtime ve schedule kazanımı ayrıdır.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20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20" b="0">
                <a:solidFill>
                  <a:srgbClr val="1A1F1D"/>
                </a:solidFill>
                <a:latin typeface="Helvetica Neue"/>
              </a:rPr>
              <a:t>Sütun başlığına tıklayarak sıralanır.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736592"/>
            <a:ext cx="10637215" cy="1078992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956048"/>
            <a:ext cx="1023487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200" b="0">
                <a:solidFill>
                  <a:srgbClr val="1A1F1D"/>
                </a:solidFill>
                <a:latin typeface="Helvetica Neue"/>
              </a:rPr>
              <a:t>S1 gerçek zaman/OEE kazanımıdır. S2 yalnız sınıflandırma etkisini, S3 üretim verisi yokluğundaki inert kolu, S4 ise IT sahipliğindeki schedule görünürlüğünü gösterir.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27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1">
                <a:solidFill>
                  <a:srgbClr val="127145"/>
                </a:solidFill>
                <a:latin typeface="Helvetica Neue"/>
              </a:rPr>
              <a:t>CANLI ARAYÜZ REHBERI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2900" b="1">
                <a:solidFill>
                  <a:srgbClr val="1A1F1D"/>
                </a:solidFill>
                <a:latin typeface="Helvetica Neue"/>
              </a:rPr>
              <a:t>Çapraz Makine — iddiayı null-model ile sınar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55648"/>
            <a:ext cx="10637215" cy="10972"/>
          </a:xfrm>
          <a:prstGeom prst="rect">
            <a:avLst/>
          </a:prstGeom>
          <a:solidFill>
            <a:srgbClr val="D9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37376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trexCloud · Öngörücü OEE &amp; Kök-Neden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3737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800"/>
              </a:spcAft>
            </a:pPr>
            <a:r>
              <a:rPr sz="900" b="0">
                <a:solidFill>
                  <a:srgbClr val="6B7771"/>
                </a:solidFill>
                <a:latin typeface="Helvetica Neue"/>
              </a:rPr>
              <a:t>18</a:t>
            </a:r>
          </a:p>
        </p:txBody>
      </p:sp>
      <p:pic>
        <p:nvPicPr>
          <p:cNvPr id="8" name="Picture 7" descr="cross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30" y="1938528"/>
            <a:ext cx="6179458" cy="44074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75320" y="1938528"/>
            <a:ext cx="3136392" cy="4407408"/>
          </a:xfrm>
          <a:prstGeom prst="rect">
            <a:avLst/>
          </a:prstGeom>
          <a:solidFill>
            <a:srgbClr val="ECF4EF"/>
          </a:solidFill>
          <a:ln w="13970">
            <a:solidFill>
              <a:srgbClr val="127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221284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127145"/>
                </a:solidFill>
                <a:latin typeface="Helvetica Neue"/>
              </a:rPr>
              <a:t>PLATİN EKRANI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670048"/>
            <a:ext cx="2651760" cy="3364992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05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05" b="0">
                <a:solidFill>
                  <a:srgbClr val="1A1F1D"/>
                </a:solidFill>
                <a:latin typeface="Helvetica Neue"/>
              </a:rPr>
              <a:t>Eski connectivity sonucu kayıt tekrarı olarak teşhis edilir.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05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05" b="0">
                <a:solidFill>
                  <a:srgbClr val="1A1F1D"/>
                </a:solidFill>
                <a:latin typeface="Helvetica Neue"/>
              </a:rPr>
              <a:t>708 eşzamanlı duruş, vardiya ritmini koruyan null'ın üstündedir.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05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05" b="0">
                <a:solidFill>
                  <a:srgbClr val="1A1F1D"/>
                </a:solidFill>
                <a:latin typeface="Helvetica Neue"/>
              </a:rPr>
              <a:t>Rejim haritası hangi makinelerin birlikte modellenebileceğini gösterir.</a:t>
            </a:r>
          </a:p>
          <a:p>
            <a:pPr>
              <a:lnSpc>
                <a:spcPct val="116000"/>
              </a:lnSpc>
              <a:spcAft>
                <a:spcPts val="700"/>
              </a:spcAft>
            </a:pPr>
            <a:r>
              <a:rPr sz="1105" b="1">
                <a:solidFill>
                  <a:srgbClr val="127145"/>
                </a:solidFill>
                <a:latin typeface="Helvetica Neue"/>
              </a:rPr>
              <a:t>—  </a:t>
            </a:r>
            <a:r>
              <a:rPr sz="1105" b="0">
                <a:solidFill>
                  <a:srgbClr val="1A1F1D"/>
                </a:solidFill>
                <a:latin typeface="Helvetica Neue"/>
              </a:rPr>
              <a:t>Küme seviyesi güçlü olsa da türev korelasyonu ≈0: akut yayılım iddia edilmez.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