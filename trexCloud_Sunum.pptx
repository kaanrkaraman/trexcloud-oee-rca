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Kısa ve iddialı giriş: bir CNC + lazer tesisinin verisinden uçtan uca bir öngörücü OEE ve kök-neden sistemi kurduk. Hedefimiz değerlendirmenin en üst iki seviyesi: Altın ve Platin.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Jüriye yol haritasını ver: her rozetin ne istediğini bir cümlede söyle. Alttaki iki seviyeyi eksiksiz yapıyoruz; sunumun ağırlığı Altın ve Platin'de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güçlü farkımız: dokümanın vaat ettiği zengin sinyallerin akmadığını tespit ettik ve modeli gerçekte akan sinyallere kurduk. Bu, jüri gözünde güvenilirlik demektir.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Sistemi bir resimde anlat. Kanonik rol katmanı sayesinde farklı markaların sinyallerini ortak bir dile çeviriyoruz; tahmini ve çapraz-makine analizini bu mümkün kılıyor.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Hızlı geç. Kritik ayrım: en büyük duruş kalemi aslında bir IT/ağ sorunu. Bunu ayırmak doğru aksiyonun ön koşulu.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Altın'ın kalbi: birden çok sinyalin baseline'dan saptığını saptıyoruz, sonra alarmları nedensel önceliğe göre sıralayıp kök nedene iniyoruz. Z-ekseni hatası bir sonuç; gerçek kök neden hava basıncı. Dürüstlük: sapmanın bu olayda eşzamanlı olduğunu açıkça söyle. Canlı demo: Tahmin → Aksiyon panosu, bölüm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Tahmini ilk kez doğrudan OEE ve euroya bağlıyoruz. Recall yakalanabilecek duruş havuzunu, alarm isabeti ve alarm sayısı ise müdahale maliyetini belirliyor. Varsayılan 300 euro kontrol maliyetinde dağıtılan eşik ekonomik değil; bunu saklamıyoruz. Retrospektif ekonomik eşik daha az alarm ve pozitif net değer üretiyor, ama canlı model seçimi olarak sunulmuyor.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Platin'in en kritik kriteri. Her çapraz-makine iddiamızı bir null-model'den geçirdik. Eşzamanlı duruşlar gerçek; ama kümeyi abartmadık — ortak bir ritim, eşzamanlı arıza değil. Canlı demo: Çapraz Makine panosu.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Dört senaryo aynı hesap sözleşmesiyle incelenebilir. S1 gerçek OEE ve zaman kazanımıdır. S2 runtime yaratmadan A'yı yükseltir; bu yüzden finansal faydası yoktur. S3 veri yokluğunda bilerek inerttir. S4 bağlantı görünürlüğünü geri getirir ama makine OEE'sine yazılmaz.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Bunu biz söyleyince güven artar: neyi tahmin edemediğimizi de biliyoruz. Sınırları jüri bulmadan biz koyuyoruz. Dürüst bir analiz, parlak ama yanlış olandan iyidir.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Kapanış: dürüst, çalışan, uçtan uca bir sistem kurduk. Tahmin eder, açıklar, sayısallaştırır; ve her scoping kararının veri temelli bir gerekçesi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127145"/>
                </a:solidFill>
                <a:latin typeface="Helvetica Neue"/>
              </a:rPr>
              <a:t>TREXCLOUD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4000" b="1">
                <a:solidFill>
                  <a:srgbClr val="1A1F1D"/>
                </a:solidFill>
                <a:latin typeface="Helvetica Neue"/>
              </a:rPr>
              <a:t>Öngörücü OEE &amp; Kök-Neden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6B7771"/>
                </a:solidFill>
                <a:latin typeface="Helvetica Neue"/>
              </a:rPr>
              <a:t>Bir CNC + lazer tesisi için uçtan uca tahmin, kök-neden ve What-If sistemi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9160"/>
            <a:ext cx="2011680" cy="18288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Veri dönemi: Ağustos 2025 – Mayıs 2026  ·  12 makine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YAKLAŞIM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Hedef: değerlendirmenin en üst iki seviyesi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1A1F1D"/>
                </a:solidFill>
                <a:latin typeface="Helvetica Neue"/>
              </a:rPr>
              <a:t>Değerlendirme dört seviyeli. Bronz ve Gümüş bizde temel; odağımız Altın ve Platin.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34640"/>
            <a:ext cx="2453563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34640"/>
            <a:ext cx="2453563" cy="109728"/>
          </a:xfrm>
          <a:prstGeom prst="rect">
            <a:avLst/>
          </a:prstGeom>
          <a:solidFill>
            <a:srgbClr val="A97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BRONZ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Alarm ve duruşları zaman aralığında listele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5123" y="2834640"/>
            <a:ext cx="2453563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5123" y="2834640"/>
            <a:ext cx="2453563" cy="109728"/>
          </a:xfrm>
          <a:prstGeom prst="rect">
            <a:avLst/>
          </a:prstGeom>
          <a:solidFill>
            <a:srgbClr val="8A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9715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GÜMÜŞ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9715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Alarmları duruşlarla eşleştir, Pareto çıkar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2834640"/>
            <a:ext cx="2453563" cy="2468880"/>
          </a:xfrm>
          <a:prstGeom prst="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2834640"/>
            <a:ext cx="2453563" cy="109728"/>
          </a:xfrm>
          <a:prstGeom prst="rect">
            <a:avLst/>
          </a:prstGeom>
          <a:solidFill>
            <a:srgbClr val="C9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ALTIN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599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1A1F1D"/>
                </a:solidFill>
                <a:latin typeface="Helvetica Neue"/>
              </a:rPr>
              <a:t>Baseline sapma + çok-sinyal → nedensellik zinciri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892040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50" b="1">
                <a:solidFill>
                  <a:srgbClr val="127145"/>
                </a:solidFill>
                <a:latin typeface="Helvetica Neue"/>
              </a:rPr>
              <a:t>HEDEF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0891" y="2834640"/>
            <a:ext cx="2453563" cy="2468880"/>
          </a:xfrm>
          <a:prstGeom prst="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0891" y="2834640"/>
            <a:ext cx="2453563" cy="109728"/>
          </a:xfrm>
          <a:prstGeom prst="rect">
            <a:avLst/>
          </a:prstGeom>
          <a:solidFill>
            <a:srgbClr val="2F8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483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PLATİN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483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1A1F1D"/>
                </a:solidFill>
                <a:latin typeface="Helvetica Neue"/>
              </a:rPr>
              <a:t>Çapraz-makine örüntü + ΔOEE + finansal öneri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483" y="4892040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50" b="1">
                <a:solidFill>
                  <a:srgbClr val="127145"/>
                </a:solidFill>
                <a:latin typeface="Helvetica Neue"/>
              </a:rPr>
              <a:t>HEDEF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VERI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Önce veriyi dürüstçe envanterledik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12 makine, yaklaşık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7,4 milyon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telemetri kaydı; cp1254 kodlama, UTC, milisaniye.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Dokümanın vaat ettiği kanıt sinyalleri (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servo sıcaklık, path-load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) pratikte boş: en yoğun makinede bile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0 / 28 satır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Gerçekte akan sinyaller: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cycle_time, run_state, run_time, axis_position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 Nightwatch–MES eşleşmesi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162 / 162 (%100)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54880"/>
            <a:ext cx="10637215" cy="960120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8348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Modeli dokümanın değil, gerçekten akan sinyallerin üzerine kurduk. Jüri veriyi iyi bilir; dürüst envanter güven kazandırır.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MIMARI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Uçtan uca 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Kanonik sinyal</a:t>
            </a:r>
          </a:p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katmanı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48651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86979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8419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Baseline sapma</a:t>
            </a:r>
          </a:p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(AD)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58390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96718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8158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Kök-neden</a:t>
            </a:r>
          </a:p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(RCA)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68129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What-If / OEE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77868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16196" y="2743200"/>
            <a:ext cx="1798259" cy="1371600"/>
          </a:xfrm>
          <a:prstGeom prst="round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7636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27145"/>
                </a:solidFill>
                <a:latin typeface="Helvetica Neue"/>
              </a:rPr>
              <a:t>Tahmin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5488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0">
                <a:solidFill>
                  <a:srgbClr val="6B7771"/>
                </a:solidFill>
                <a:latin typeface="Helvetica Neue"/>
              </a:rPr>
              <a:t>Vendor-bağımsız rol haritası çapraz-makineyi mümkün kılar: Fanuc IsNotRunning ile Mitsubishi RUN_STATUS_START aynı role eşlenir.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0">
                <a:solidFill>
                  <a:srgbClr val="1A1F1D"/>
                </a:solidFill>
                <a:latin typeface="Helvetica Neue"/>
              </a:rPr>
              <a:t>Rejim ayrımı:  </a:t>
            </a:r>
            <a:r>
              <a:rPr sz="1350" b="1">
                <a:solidFill>
                  <a:srgbClr val="1A1F1D"/>
                </a:solidFill>
                <a:latin typeface="Helvetica Neue"/>
              </a:rPr>
              <a:t>Fanuc {1,2,3,5,9}</a:t>
            </a:r>
            <a:r>
              <a:rPr sz="1350" b="0">
                <a:solidFill>
                  <a:srgbClr val="1A1F1D"/>
                </a:solidFill>
                <a:latin typeface="Helvetica Neue"/>
              </a:rPr>
              <a:t>   ·   </a:t>
            </a:r>
            <a:r>
              <a:rPr sz="1350" b="1">
                <a:solidFill>
                  <a:srgbClr val="1A1F1D"/>
                </a:solidFill>
                <a:latin typeface="Helvetica Neue"/>
              </a:rPr>
              <a:t>Mitsubishi {7,8}</a:t>
            </a:r>
            <a:r>
              <a:rPr sz="1350" b="0">
                <a:solidFill>
                  <a:srgbClr val="1A1F1D"/>
                </a:solidFill>
                <a:latin typeface="Helvetica Neue"/>
              </a:rPr>
              <a:t>   ·   telemetrisiz {4,6,10, TurboCut, ARES}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BRONZ · GÜMÜŞ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Temel: olay akışı, eşleştirme,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Alarm, duruş, bağlantı kesintisi ve sapma olayları tek bir akışta birleşik.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Alarmlar duruşlara zaman damgasıyla eşleştirildi (ileri yönlü asof).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Pareto, duruşu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arıza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ve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bağlantı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olarak ayırır — yatırım kararını bu ayrım belirler.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54880"/>
            <a:ext cx="10637215" cy="960120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8348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En büyük duruş kaynağı bir makine arızası değil, bağlantı kesintisidir (System Offline). Bunu ayırmazsanız yanlış yere yatırım yaparsınız.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ALTIN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Baseline sapma + çok-sinyal → nedensellik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6B7771"/>
                </a:solidFill>
                <a:latin typeface="Helvetica Neue"/>
              </a:rPr>
              <a:t>Örnek olay:  Makine 1  ·  12 Ocak 2026, 04:47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291840" cy="822960"/>
          </a:xfrm>
          <a:prstGeom prst="round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27145"/>
                </a:solidFill>
                <a:latin typeface="Helvetica Neue"/>
              </a:rPr>
              <a:t>AIR PRESSURE FAILED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27145"/>
                </a:solidFill>
                <a:latin typeface="Helvetica Neue"/>
              </a:rPr>
              <a:t>kök neden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06240" y="2944368"/>
            <a:ext cx="411480" cy="41148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79" y="2697480"/>
            <a:ext cx="32918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697480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F1D"/>
                </a:solidFill>
                <a:latin typeface="Helvetica Neue"/>
              </a:rPr>
              <a:t>Z-AXIS ZERO RETURN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F1D"/>
                </a:solidFill>
                <a:latin typeface="Helvetica Neue"/>
              </a:rPr>
              <a:t>sonuç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37215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Baseline sapma imzası (robust-z): 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run_state −7,7σ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(makine duruyor),  cycle_time −0,8σ.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Alarmlar dizine göre değil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nedensel önceliğe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göre sıralanır: kök neden hava basıncı, Z-ekseni hatası sonuçtur.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5780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Dürüst not: bu olayda sapma eşzamanlı kanıttır, öngörücü bir öncül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TAHMIN · DEĞER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ROC / lift katmanından OEE ve €'ya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0,73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693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2,38×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845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taban-üstü kazanç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147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%69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3299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duruş yakalama · held-out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+10,44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9753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puan OEE · e=%35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10637215" cy="2148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Gerçek held-out ölçüm: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364/527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duruş yakalandı;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722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alarm döneminin isabeti %44.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e=%35 varsayımıyla yıllık projeksiyon: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2330 saat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; fakat 300 €/kontrol varsayımında net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-512,666 €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166360"/>
            <a:ext cx="10637215" cy="658368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5330952"/>
            <a:ext cx="10234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>
                <a:solidFill>
                  <a:srgbClr val="1A1F1D"/>
                </a:solidFill>
                <a:latin typeface="Helvetica Neue"/>
              </a:rPr>
              <a:t>Ekonomik duyarlılık (retrospektif): eşik 0.78 → 33 kontrol → 11,013 €/yıl net. Canlı eşiğin yerine geçmez.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PLATIN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Çapraz-makine örüntüleri — null-model 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≥2 makinenin aynı saatte plansız duruşa girmesi — şansın ve vardiya ritminin ötesinde 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6207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Gözlemlenen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2880360"/>
            <a:ext cx="5281381" cy="36576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4701" y="287121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1A1F1D"/>
                </a:solidFill>
                <a:latin typeface="Helvetica Neue"/>
              </a:rPr>
              <a:t>708 saat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Beklenen (saat-içi ritim)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3447288"/>
            <a:ext cx="4207202" cy="365760"/>
          </a:xfrm>
          <a:prstGeom prst="rect">
            <a:avLst/>
          </a:prstGeom>
          <a:solidFill>
            <a:srgbClr val="6B77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0522" y="34381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1A1F1D"/>
                </a:solidFill>
                <a:latin typeface="Helvetica Neue"/>
              </a:rPr>
              <a:t>564 saat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959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Beklenen (rastgele)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4014215"/>
            <a:ext cx="2484039" cy="365760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7359" y="400507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1A1F1D"/>
                </a:solidFill>
                <a:latin typeface="Helvetica Neue"/>
              </a:rPr>
              <a:t>333 saat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Sonuç:  </a:t>
            </a:r>
            <a:r>
              <a:rPr sz="1400" b="1">
                <a:solidFill>
                  <a:srgbClr val="1A1F1D"/>
                </a:solidFill>
                <a:latin typeface="Helvetica Neue"/>
              </a:rPr>
              <a:t>z = 5,16, p &lt; 0,001</a:t>
            </a:r>
            <a:r>
              <a:rPr sz="1400" b="0">
                <a:solidFill>
                  <a:srgbClr val="1A1F1D"/>
                </a:solidFill>
                <a:latin typeface="Helvetica Neue"/>
              </a:rPr>
              <a:t> — senkronizasyon, ortak vardiya programıyla açıklanamıyor.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12080"/>
            <a:ext cx="10637215" cy="82295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Eski yöntemin 1 numaralı ‘sistemik’ bulgusu (bağlantı) bir kayıt tekrarıydı; ayıkladık.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Eşleşen küme {1,2,3,9} ortak bir çalışma ritmidir — eşzamanlı arıza yayılımı değil (dürüst okuma).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PLATIN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İncelenebilir senaryo kataloğu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379476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3611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Senaryo / kapsam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148840"/>
            <a:ext cx="96012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258568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ΔA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148840"/>
            <a:ext cx="96012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59" y="2258568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ΔP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48840"/>
            <a:ext cx="105156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2258568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ΔOEE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2148840"/>
            <a:ext cx="109728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258568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Saat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148840"/>
            <a:ext cx="141732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19" y="2258568"/>
            <a:ext cx="1234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Net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606040"/>
            <a:ext cx="379476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743200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S1 · Makine 1 · En büyük plansız duruş kalemi -%30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606040"/>
            <a:ext cx="96012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743200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26,85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606040"/>
            <a:ext cx="96012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2743200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0,00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06040"/>
            <a:ext cx="105156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2743200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26,85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606040"/>
            <a:ext cx="109728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2743200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933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2606040"/>
            <a:ext cx="141732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19" y="2743200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10,016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227832"/>
            <a:ext cx="37947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364992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S2 · Makine 2 · 8 saat plansız -&gt; planlı bakım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3227832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3364992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0,32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3227832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3559" y="3364992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227832"/>
            <a:ext cx="10515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79" y="3364992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43800" y="3227832"/>
            <a:ext cx="109728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3364992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41080" y="3227832"/>
            <a:ext cx="14173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19" y="3364992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-300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3849624"/>
            <a:ext cx="37947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3986784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S3 · Makine 4 · Performans/çevrim +%10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3849624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3986784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32120" y="3849624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59" y="3986784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849624"/>
            <a:ext cx="10515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3986784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3849624"/>
            <a:ext cx="109728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986784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41080" y="3849624"/>
            <a:ext cx="14173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32519" y="3986784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-300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" y="4471416"/>
            <a:ext cx="37947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4608576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S4 · PLANT · Tesis genelinde bağlantı düzeltildi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4471416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0" y="4608576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32120" y="4471416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59" y="4608576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4471416"/>
            <a:ext cx="10515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79" y="4608576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4471416"/>
            <a:ext cx="109728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35240" y="4608576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663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41080" y="4471416"/>
            <a:ext cx="14173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32519" y="4608576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" y="5422392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1A1F1D"/>
                </a:solidFill>
                <a:latin typeface="Helvetica Neue"/>
              </a:rPr>
              <a:t>S2 yalnız sınıflandırmayı değiştirir; S3 üretim sayımı olmadığı için inerttir; S4 IT aksiyonudur ve makine OEE'sine yazılmaz. Tüm € değerleri VARSAYIM.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SINIRLAR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Neyi tahmin edemeyeceğimizi de biliyoruz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Kondisyon sinyalleri (sıcaklık, yük) boş → tahminin tavanını model değil,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veri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belirler.</a:t>
            </a:r>
          </a:p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Mitsubishi 60 dk’da %53 duruş: tahmin doygun. 30 dk ufkunda zayıf ama mevcut; makineler atılmadı.</a:t>
            </a:r>
          </a:p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Plansız duruşlar tek etiket taşır → ‘ne / ne zaman’ var, ‘neden’ yalnız Makine 1 ve 2’de.</a:t>
            </a:r>
          </a:p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Kalite kaydı yok → Q simüle edilir; üretimsiz günlerde P doğal olarak sıfır.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Dürüst, çalışan, uçtan uca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Dört seviye de kapsandı; en üst ikisi — Altın ve Platin — güçlü biçimde karşılandı.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Tek akışta: duruş tahmini (Fanuc 2,38×) + kök-neden (kaskad) + sayısal ΔOEE / € önerisi.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Sonraki adım: makine-bazlı olasılık kalibrasyonu, Mitsubishi için kısa-ufuk hedef.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892040"/>
            <a:ext cx="10637215" cy="8686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Helvetica Neue"/>
              </a:rPr>
              <a:t>Tahmin eder, açıklar, sayısallaştırır — ve filodaki her makine için neden öyle davrandığımızı biliriz.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